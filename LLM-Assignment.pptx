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05" r:id="rId6"/>
    <p:sldId id="332" r:id="rId7"/>
    <p:sldId id="333" r:id="rId8"/>
    <p:sldId id="334" r:id="rId9"/>
    <p:sldId id="335" r:id="rId10"/>
    <p:sldId id="336" r:id="rId11"/>
    <p:sldId id="337" r:id="rId12"/>
    <p:sldId id="306" r:id="rId13"/>
    <p:sldId id="321" r:id="rId14"/>
    <p:sldId id="322" r:id="rId15"/>
    <p:sldId id="323" r:id="rId16"/>
    <p:sldId id="324" r:id="rId17"/>
    <p:sldId id="325" r:id="rId18"/>
    <p:sldId id="326" r:id="rId19"/>
    <p:sldId id="327" r:id="rId20"/>
    <p:sldId id="328" r:id="rId21"/>
    <p:sldId id="329" r:id="rId22"/>
    <p:sldId id="330" r:id="rId23"/>
    <p:sldId id="331" r:id="rId24"/>
    <p:sldId id="31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p:scale>
          <a:sx n="120" d="100"/>
          <a:sy n="120" d="100"/>
        </p:scale>
        <p:origin x="8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4/12/2025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4/12/2025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4/12/2025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4/12/2025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4/12/2025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4/12/2025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4/12/2025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4/12/2025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4/12/2025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4/12/2025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hyperlink" Target="https://todayshospitalist.com/which-neurologic-imaging-does-your-patient-need/" TargetMode="External"/><Relationship Id="rId2" Type="http://schemas.openxmlformats.org/officeDocument/2006/relationships/hyperlink" Target="https://www.stroke.org/en/about-stroke/types-of-stroke" TargetMode="External"/><Relationship Id="rId1" Type="http://schemas.openxmlformats.org/officeDocument/2006/relationships/slideLayout" Target="../slideLayouts/slideLayout2.xml"/><Relationship Id="rId4" Type="http://schemas.openxmlformats.org/officeDocument/2006/relationships/hyperlink" Target="https://journals.sagepub.com/doi/10.1177/17474930231206066"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3600" dirty="0">
                <a:solidFill>
                  <a:schemeClr val="tx1"/>
                </a:solidFill>
              </a:rPr>
              <a:t>LLM Tutorial</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Yudha Herwono</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DAF64-D91E-F468-C798-D22B9B1AA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4AF40-ED93-4E6B-0504-FAF2BEF65566}"/>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Stroke Patients - Background</a:t>
            </a:r>
          </a:p>
        </p:txBody>
      </p:sp>
      <p:sp>
        <p:nvSpPr>
          <p:cNvPr id="5" name="Content Placeholder 4">
            <a:extLst>
              <a:ext uri="{FF2B5EF4-FFF2-40B4-BE49-F238E27FC236}">
                <a16:creationId xmlns:a16="http://schemas.microsoft.com/office/drawing/2014/main" id="{316FD51F-2E35-0F3D-A0C0-43F4599BE43C}"/>
              </a:ext>
            </a:extLst>
          </p:cNvPr>
          <p:cNvSpPr>
            <a:spLocks noGrp="1"/>
          </p:cNvSpPr>
          <p:nvPr>
            <p:ph idx="1"/>
          </p:nvPr>
        </p:nvSpPr>
        <p:spPr>
          <a:xfrm>
            <a:off x="1097280" y="2039816"/>
            <a:ext cx="10581249" cy="3827584"/>
          </a:xfrm>
        </p:spPr>
        <p:txBody>
          <a:bodyPr>
            <a:noAutofit/>
          </a:bodyPr>
          <a:lstStyle/>
          <a:p>
            <a:pPr>
              <a:buFont typeface="Arial" panose="020B0604020202020204" pitchFamily="34" charset="0"/>
              <a:buChar char="•"/>
            </a:pPr>
            <a:r>
              <a:rPr lang="en-US" sz="1600" dirty="0"/>
              <a:t>I use free version of ChatGPT for the prompts</a:t>
            </a:r>
          </a:p>
          <a:p>
            <a:pPr>
              <a:buFont typeface="Arial" panose="020B0604020202020204" pitchFamily="34" charset="0"/>
              <a:buChar char="•"/>
            </a:pPr>
            <a:r>
              <a:rPr lang="en-US" sz="1600" dirty="0"/>
              <a:t>The following references are used as the source of expertise:</a:t>
            </a:r>
          </a:p>
          <a:p>
            <a:pPr lvl="1">
              <a:buFont typeface="Arial" panose="020B0604020202020204" pitchFamily="34" charset="0"/>
              <a:buChar char="•"/>
            </a:pPr>
            <a:r>
              <a:rPr lang="en-US" sz="1600" dirty="0"/>
              <a:t>American Stroke Association. (2024). Types of Stroke and Treatment. </a:t>
            </a:r>
            <a:r>
              <a:rPr lang="en-US" sz="1600" dirty="0">
                <a:hlinkClick r:id="rId2"/>
              </a:rPr>
              <a:t>https://www.stroke.org/en/about-stroke/types-of-stroke</a:t>
            </a:r>
            <a:endParaRPr lang="en-US" sz="1600" dirty="0"/>
          </a:p>
          <a:p>
            <a:pPr lvl="1">
              <a:buFont typeface="Arial" panose="020B0604020202020204" pitchFamily="34" charset="0"/>
              <a:buChar char="•"/>
            </a:pPr>
            <a:r>
              <a:rPr lang="en-US" sz="1600" dirty="0"/>
              <a:t>Gesensway D. (2009, June). Which neurologic imaging does your patient need?  </a:t>
            </a:r>
            <a:r>
              <a:rPr lang="en-US" sz="1600" dirty="0">
                <a:hlinkClick r:id="rId3"/>
              </a:rPr>
              <a:t>https://todayshospitalist.com/which-neurologic-imaging-does-your-patient-need/</a:t>
            </a:r>
            <a:endParaRPr lang="en-US" sz="1600" dirty="0"/>
          </a:p>
          <a:p>
            <a:pPr lvl="1">
              <a:buFont typeface="Arial" panose="020B0604020202020204" pitchFamily="34" charset="0"/>
              <a:buChar char="•"/>
            </a:pPr>
            <a:r>
              <a:rPr lang="en-US" sz="1600" dirty="0"/>
              <a:t>Mayo Clinic. (2023, January 18). Telestroke (stroke telemedicine). https://www.mayoclinic.org/tests-procedures/stroke-and-telemedicine/about/pac-20395081</a:t>
            </a:r>
          </a:p>
          <a:p>
            <a:pPr lvl="1">
              <a:buFont typeface="Arial" panose="020B0604020202020204" pitchFamily="34" charset="0"/>
              <a:buChar char="•"/>
            </a:pPr>
            <a:r>
              <a:rPr lang="en-US" sz="1600" dirty="0"/>
              <a:t>Mohamed A, Elsherif S, Legere B, Fatima N, Shuaib A, Saqqur M. (2023, September 26). Is telestroke more effective than conventional treatment for acute ischemic stroke? A systematic review and meta-analysis of patient outcomes and thrombolysis rates. International Journal of Stroke, Volume 19, Issue 3. </a:t>
            </a:r>
            <a:r>
              <a:rPr lang="en-US" sz="1600" dirty="0">
                <a:hlinkClick r:id="rId4"/>
              </a:rPr>
              <a:t>https://journals.sagepub.com/doi/10.1177/17474930231206066</a:t>
            </a:r>
            <a:endParaRPr lang="en-US" sz="1600" dirty="0"/>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3435667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3C934-646F-A490-9DB4-E6327C552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9AC90-8EE6-3397-B807-ACE98F4F0360}"/>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sz="4000" dirty="0"/>
              <a:t>Stroke Patients – Zero-shot prompting</a:t>
            </a:r>
          </a:p>
        </p:txBody>
      </p:sp>
      <p:sp>
        <p:nvSpPr>
          <p:cNvPr id="6" name="Content Placeholder 4">
            <a:extLst>
              <a:ext uri="{FF2B5EF4-FFF2-40B4-BE49-F238E27FC236}">
                <a16:creationId xmlns:a16="http://schemas.microsoft.com/office/drawing/2014/main" id="{A22F3753-3574-956A-2EBA-101131519727}"/>
              </a:ext>
            </a:extLst>
          </p:cNvPr>
          <p:cNvSpPr txBox="1">
            <a:spLocks/>
          </p:cNvSpPr>
          <p:nvPr/>
        </p:nvSpPr>
        <p:spPr>
          <a:xfrm>
            <a:off x="6024081" y="2039816"/>
            <a:ext cx="3989677" cy="448242"/>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1400" dirty="0"/>
              <a:t>ChatGPT answer:</a:t>
            </a:r>
          </a:p>
          <a:p>
            <a:pPr lvl="1">
              <a:buFont typeface="Arial" panose="020B0604020202020204" pitchFamily="34" charset="0"/>
              <a:buChar char="•"/>
            </a:pPr>
            <a:endParaRPr lang="en-US" sz="1600" dirty="0"/>
          </a:p>
        </p:txBody>
      </p:sp>
      <p:sp>
        <p:nvSpPr>
          <p:cNvPr id="9" name="Content Placeholder 4">
            <a:extLst>
              <a:ext uri="{FF2B5EF4-FFF2-40B4-BE49-F238E27FC236}">
                <a16:creationId xmlns:a16="http://schemas.microsoft.com/office/drawing/2014/main" id="{F1829098-F5C0-1C68-1320-38D4BCE8417D}"/>
              </a:ext>
            </a:extLst>
          </p:cNvPr>
          <p:cNvSpPr>
            <a:spLocks noGrp="1"/>
          </p:cNvSpPr>
          <p:nvPr>
            <p:ph idx="1"/>
          </p:nvPr>
        </p:nvSpPr>
        <p:spPr>
          <a:xfrm>
            <a:off x="1192276" y="2039816"/>
            <a:ext cx="4934204" cy="1535591"/>
          </a:xfrm>
        </p:spPr>
        <p:txBody>
          <a:bodyPr>
            <a:noAutofit/>
          </a:bodyPr>
          <a:lstStyle/>
          <a:p>
            <a:pPr>
              <a:buFont typeface="Arial" panose="020B0604020202020204" pitchFamily="34" charset="0"/>
              <a:buChar char="•"/>
            </a:pPr>
            <a:r>
              <a:rPr lang="en-US" sz="1400" dirty="0"/>
              <a:t>Prompt: What types of stroke are known?</a:t>
            </a:r>
          </a:p>
          <a:p>
            <a:pPr>
              <a:buFont typeface="Arial" panose="020B0604020202020204" pitchFamily="34" charset="0"/>
              <a:buChar char="•"/>
            </a:pPr>
            <a:r>
              <a:rPr lang="en-US" sz="1400" dirty="0"/>
              <a:t>Evaluation:</a:t>
            </a:r>
          </a:p>
          <a:p>
            <a:pPr lvl="1">
              <a:buFont typeface="Arial" panose="020B0604020202020204" pitchFamily="34" charset="0"/>
              <a:buChar char="•"/>
            </a:pPr>
            <a:r>
              <a:rPr lang="en-US" sz="1200" dirty="0"/>
              <a:t>This is consistent with the information coming from American Stroke Association (ASA)</a:t>
            </a:r>
          </a:p>
          <a:p>
            <a:pPr lvl="1">
              <a:buFont typeface="Arial" panose="020B0604020202020204" pitchFamily="34" charset="0"/>
              <a:buChar char="•"/>
            </a:pPr>
            <a:r>
              <a:rPr lang="en-US" sz="1200" dirty="0"/>
              <a:t>ASA also mentioned that 87% of all strokes is ischemic stroke</a:t>
            </a:r>
          </a:p>
        </p:txBody>
      </p:sp>
      <p:pic>
        <p:nvPicPr>
          <p:cNvPr id="11" name="Picture 10" descr="A screenshot of a medical report&#10;&#10;AI-generated content may be incorrect.">
            <a:extLst>
              <a:ext uri="{FF2B5EF4-FFF2-40B4-BE49-F238E27FC236}">
                <a16:creationId xmlns:a16="http://schemas.microsoft.com/office/drawing/2014/main" id="{1108D67D-E574-76D7-08A1-2CA99D51F24E}"/>
              </a:ext>
            </a:extLst>
          </p:cNvPr>
          <p:cNvPicPr>
            <a:picLocks noChangeAspect="1"/>
          </p:cNvPicPr>
          <p:nvPr/>
        </p:nvPicPr>
        <p:blipFill>
          <a:blip r:embed="rId2"/>
          <a:stretch>
            <a:fillRect/>
          </a:stretch>
        </p:blipFill>
        <p:spPr>
          <a:xfrm>
            <a:off x="7611724" y="2039816"/>
            <a:ext cx="3543956" cy="4087508"/>
          </a:xfrm>
          <a:prstGeom prst="rect">
            <a:avLst/>
          </a:prstGeom>
        </p:spPr>
      </p:pic>
    </p:spTree>
    <p:extLst>
      <p:ext uri="{BB962C8B-B14F-4D97-AF65-F5344CB8AC3E}">
        <p14:creationId xmlns:p14="http://schemas.microsoft.com/office/powerpoint/2010/main" val="725291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935F-8F81-A96A-BCCC-E34B97D61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119C1-ABCF-D3FF-B70C-6CA91F10B4E1}"/>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sz="4000" dirty="0"/>
              <a:t>Stroke Patients – One-shot prompting</a:t>
            </a:r>
          </a:p>
        </p:txBody>
      </p:sp>
      <p:sp>
        <p:nvSpPr>
          <p:cNvPr id="6" name="Content Placeholder 4">
            <a:extLst>
              <a:ext uri="{FF2B5EF4-FFF2-40B4-BE49-F238E27FC236}">
                <a16:creationId xmlns:a16="http://schemas.microsoft.com/office/drawing/2014/main" id="{3E0D9ED5-7A8B-68F9-7D0F-A72356B9DE5B}"/>
              </a:ext>
            </a:extLst>
          </p:cNvPr>
          <p:cNvSpPr txBox="1">
            <a:spLocks/>
          </p:cNvSpPr>
          <p:nvPr/>
        </p:nvSpPr>
        <p:spPr>
          <a:xfrm>
            <a:off x="6024081" y="2039816"/>
            <a:ext cx="3989677" cy="448242"/>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1400" dirty="0"/>
              <a:t>ChatGPT answer:</a:t>
            </a:r>
          </a:p>
          <a:p>
            <a:pPr lvl="1">
              <a:buFont typeface="Arial" panose="020B0604020202020204" pitchFamily="34" charset="0"/>
              <a:buChar char="•"/>
            </a:pPr>
            <a:endParaRPr lang="en-US" sz="1600" dirty="0"/>
          </a:p>
        </p:txBody>
      </p:sp>
      <p:sp>
        <p:nvSpPr>
          <p:cNvPr id="9" name="Content Placeholder 4">
            <a:extLst>
              <a:ext uri="{FF2B5EF4-FFF2-40B4-BE49-F238E27FC236}">
                <a16:creationId xmlns:a16="http://schemas.microsoft.com/office/drawing/2014/main" id="{1F8217D2-9D08-A244-B537-140028151141}"/>
              </a:ext>
            </a:extLst>
          </p:cNvPr>
          <p:cNvSpPr>
            <a:spLocks noGrp="1"/>
          </p:cNvSpPr>
          <p:nvPr>
            <p:ph idx="1"/>
          </p:nvPr>
        </p:nvSpPr>
        <p:spPr>
          <a:xfrm>
            <a:off x="287383" y="2039816"/>
            <a:ext cx="5839097" cy="2427681"/>
          </a:xfrm>
        </p:spPr>
        <p:txBody>
          <a:bodyPr>
            <a:noAutofit/>
          </a:bodyPr>
          <a:lstStyle/>
          <a:p>
            <a:pPr>
              <a:buFont typeface="Arial" panose="020B0604020202020204" pitchFamily="34" charset="0"/>
              <a:buChar char="•"/>
            </a:pPr>
            <a:r>
              <a:rPr lang="en-US" sz="1400" dirty="0"/>
              <a:t>Prompt: A hemorrhagic stroke can be positively identified through non-contrast head CT scan by looking at anything that shows up as “white or bright”. As a neurologist, I see a head CT scan with no white or bright spot can I conclude that the patient has ischemic stroke?</a:t>
            </a:r>
          </a:p>
          <a:p>
            <a:pPr>
              <a:buFont typeface="Arial" panose="020B0604020202020204" pitchFamily="34" charset="0"/>
              <a:buChar char="•"/>
            </a:pPr>
            <a:r>
              <a:rPr lang="en-US" sz="1400" dirty="0"/>
              <a:t>Evaluation:</a:t>
            </a:r>
          </a:p>
          <a:p>
            <a:pPr lvl="1">
              <a:buFont typeface="Arial" panose="020B0604020202020204" pitchFamily="34" charset="0"/>
              <a:buChar char="•"/>
            </a:pPr>
            <a:r>
              <a:rPr lang="en-US" sz="1200" dirty="0"/>
              <a:t>This is correct, it is more difficult to identify ischemic stroke by just having a head CT scan, an MRI scan may allow radiologist to say whether a patient has had ischemic stroke (Gesensway, 2009)</a:t>
            </a:r>
          </a:p>
        </p:txBody>
      </p:sp>
      <p:pic>
        <p:nvPicPr>
          <p:cNvPr id="4" name="Picture 3" descr="A screenshot of a questionnaire&#10;&#10;AI-generated content may be incorrect.">
            <a:extLst>
              <a:ext uri="{FF2B5EF4-FFF2-40B4-BE49-F238E27FC236}">
                <a16:creationId xmlns:a16="http://schemas.microsoft.com/office/drawing/2014/main" id="{24A369D9-E8EA-33D0-22F1-CAA6B557EFC9}"/>
              </a:ext>
            </a:extLst>
          </p:cNvPr>
          <p:cNvPicPr>
            <a:picLocks noChangeAspect="1"/>
          </p:cNvPicPr>
          <p:nvPr/>
        </p:nvPicPr>
        <p:blipFill>
          <a:blip r:embed="rId2"/>
          <a:stretch>
            <a:fillRect/>
          </a:stretch>
        </p:blipFill>
        <p:spPr>
          <a:xfrm>
            <a:off x="7861462" y="2109483"/>
            <a:ext cx="3125411" cy="4125853"/>
          </a:xfrm>
          <a:prstGeom prst="rect">
            <a:avLst/>
          </a:prstGeom>
        </p:spPr>
      </p:pic>
    </p:spTree>
    <p:extLst>
      <p:ext uri="{BB962C8B-B14F-4D97-AF65-F5344CB8AC3E}">
        <p14:creationId xmlns:p14="http://schemas.microsoft.com/office/powerpoint/2010/main" val="1067747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E3418-7FAC-1979-1734-93F7189372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2E604-B919-4870-0A21-870229B18291}"/>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sz="4000" dirty="0"/>
              <a:t>Stroke Patients – Tree of thoughts</a:t>
            </a:r>
          </a:p>
        </p:txBody>
      </p:sp>
      <p:sp>
        <p:nvSpPr>
          <p:cNvPr id="6" name="Content Placeholder 4">
            <a:extLst>
              <a:ext uri="{FF2B5EF4-FFF2-40B4-BE49-F238E27FC236}">
                <a16:creationId xmlns:a16="http://schemas.microsoft.com/office/drawing/2014/main" id="{66E80BCD-E6E2-ECBC-4934-927057776570}"/>
              </a:ext>
            </a:extLst>
          </p:cNvPr>
          <p:cNvSpPr txBox="1">
            <a:spLocks/>
          </p:cNvSpPr>
          <p:nvPr/>
        </p:nvSpPr>
        <p:spPr>
          <a:xfrm>
            <a:off x="473770" y="2833090"/>
            <a:ext cx="3989677" cy="448242"/>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1400" dirty="0"/>
              <a:t>ChatGPT answer:</a:t>
            </a:r>
          </a:p>
          <a:p>
            <a:pPr lvl="1">
              <a:buFont typeface="Arial" panose="020B0604020202020204" pitchFamily="34" charset="0"/>
              <a:buChar char="•"/>
            </a:pPr>
            <a:endParaRPr lang="en-US" sz="1600" dirty="0"/>
          </a:p>
        </p:txBody>
      </p:sp>
      <p:sp>
        <p:nvSpPr>
          <p:cNvPr id="7" name="Content Placeholder 4">
            <a:extLst>
              <a:ext uri="{FF2B5EF4-FFF2-40B4-BE49-F238E27FC236}">
                <a16:creationId xmlns:a16="http://schemas.microsoft.com/office/drawing/2014/main" id="{B7985E4E-C61B-FE21-E122-7A57B3A968D1}"/>
              </a:ext>
            </a:extLst>
          </p:cNvPr>
          <p:cNvSpPr txBox="1">
            <a:spLocks/>
          </p:cNvSpPr>
          <p:nvPr/>
        </p:nvSpPr>
        <p:spPr>
          <a:xfrm>
            <a:off x="473771" y="1945350"/>
            <a:ext cx="3989677" cy="329758"/>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1400" dirty="0"/>
              <a:t>Prompt:</a:t>
            </a:r>
          </a:p>
          <a:p>
            <a:pPr lvl="1">
              <a:buFont typeface="Arial" panose="020B0604020202020204" pitchFamily="34" charset="0"/>
              <a:buChar char="•"/>
            </a:pPr>
            <a:endParaRPr lang="en-US" sz="1600" dirty="0"/>
          </a:p>
        </p:txBody>
      </p:sp>
      <p:pic>
        <p:nvPicPr>
          <p:cNvPr id="12" name="Picture 11">
            <a:extLst>
              <a:ext uri="{FF2B5EF4-FFF2-40B4-BE49-F238E27FC236}">
                <a16:creationId xmlns:a16="http://schemas.microsoft.com/office/drawing/2014/main" id="{C6CC2202-EEBE-8AD4-BC4C-2E7137D2B106}"/>
              </a:ext>
            </a:extLst>
          </p:cNvPr>
          <p:cNvPicPr>
            <a:picLocks noChangeAspect="1"/>
          </p:cNvPicPr>
          <p:nvPr/>
        </p:nvPicPr>
        <p:blipFill>
          <a:blip r:embed="rId2"/>
          <a:stretch>
            <a:fillRect/>
          </a:stretch>
        </p:blipFill>
        <p:spPr>
          <a:xfrm>
            <a:off x="1337187" y="2039479"/>
            <a:ext cx="6391368" cy="728560"/>
          </a:xfrm>
          <a:prstGeom prst="rect">
            <a:avLst/>
          </a:prstGeom>
        </p:spPr>
      </p:pic>
      <p:pic>
        <p:nvPicPr>
          <p:cNvPr id="14" name="Picture 13" descr="A screenshot of a medical information&#10;&#10;AI-generated content may be incorrect.">
            <a:extLst>
              <a:ext uri="{FF2B5EF4-FFF2-40B4-BE49-F238E27FC236}">
                <a16:creationId xmlns:a16="http://schemas.microsoft.com/office/drawing/2014/main" id="{2860AEE3-DBA8-4567-5F0E-96F1C409E5EC}"/>
              </a:ext>
            </a:extLst>
          </p:cNvPr>
          <p:cNvPicPr>
            <a:picLocks noChangeAspect="1"/>
          </p:cNvPicPr>
          <p:nvPr/>
        </p:nvPicPr>
        <p:blipFill>
          <a:blip r:embed="rId3"/>
          <a:stretch>
            <a:fillRect/>
          </a:stretch>
        </p:blipFill>
        <p:spPr>
          <a:xfrm>
            <a:off x="689103" y="3202366"/>
            <a:ext cx="2988559" cy="2969787"/>
          </a:xfrm>
          <a:prstGeom prst="rect">
            <a:avLst/>
          </a:prstGeom>
        </p:spPr>
      </p:pic>
      <p:pic>
        <p:nvPicPr>
          <p:cNvPr id="18" name="Picture 17" descr="A screenshot of a computer&#10;&#10;AI-generated content may be incorrect.">
            <a:extLst>
              <a:ext uri="{FF2B5EF4-FFF2-40B4-BE49-F238E27FC236}">
                <a16:creationId xmlns:a16="http://schemas.microsoft.com/office/drawing/2014/main" id="{58F77771-7569-17F7-A28D-6385C6E55761}"/>
              </a:ext>
            </a:extLst>
          </p:cNvPr>
          <p:cNvPicPr>
            <a:picLocks noChangeAspect="1"/>
          </p:cNvPicPr>
          <p:nvPr/>
        </p:nvPicPr>
        <p:blipFill>
          <a:blip r:embed="rId4"/>
          <a:stretch>
            <a:fillRect/>
          </a:stretch>
        </p:blipFill>
        <p:spPr>
          <a:xfrm>
            <a:off x="3988519" y="2898458"/>
            <a:ext cx="2185857" cy="3367968"/>
          </a:xfrm>
          <a:prstGeom prst="rect">
            <a:avLst/>
          </a:prstGeom>
        </p:spPr>
      </p:pic>
      <p:sp>
        <p:nvSpPr>
          <p:cNvPr id="19" name="Content Placeholder 4">
            <a:extLst>
              <a:ext uri="{FF2B5EF4-FFF2-40B4-BE49-F238E27FC236}">
                <a16:creationId xmlns:a16="http://schemas.microsoft.com/office/drawing/2014/main" id="{9F946838-E112-A811-18F9-DE22D3B19BB7}"/>
              </a:ext>
            </a:extLst>
          </p:cNvPr>
          <p:cNvSpPr>
            <a:spLocks noGrp="1"/>
          </p:cNvSpPr>
          <p:nvPr>
            <p:ph idx="1"/>
          </p:nvPr>
        </p:nvSpPr>
        <p:spPr>
          <a:xfrm>
            <a:off x="6784026" y="2899587"/>
            <a:ext cx="4934204" cy="2596338"/>
          </a:xfrm>
        </p:spPr>
        <p:txBody>
          <a:bodyPr>
            <a:noAutofit/>
          </a:bodyPr>
          <a:lstStyle/>
          <a:p>
            <a:pPr>
              <a:buFont typeface="Arial" panose="020B0604020202020204" pitchFamily="34" charset="0"/>
              <a:buChar char="•"/>
            </a:pPr>
            <a:r>
              <a:rPr lang="en-US" sz="1400" dirty="0"/>
              <a:t>Evaluation:</a:t>
            </a:r>
          </a:p>
          <a:p>
            <a:pPr lvl="1">
              <a:buFont typeface="Arial" panose="020B0604020202020204" pitchFamily="34" charset="0"/>
              <a:buChar char="•"/>
            </a:pPr>
            <a:r>
              <a:rPr lang="en-US" sz="1200" dirty="0"/>
              <a:t>Answer appears to be sound based on reference materials.</a:t>
            </a:r>
          </a:p>
          <a:p>
            <a:pPr lvl="1">
              <a:buFont typeface="Arial" panose="020B0604020202020204" pitchFamily="34" charset="0"/>
              <a:buChar char="•"/>
            </a:pPr>
            <a:r>
              <a:rPr lang="en-US" sz="1200" dirty="0"/>
              <a:t>Telestroke is a remote stroke monitoring program where healthcare providers with advanced training in treating stroke can use technology to treat people who have had strokes in another location (Mayo Clinic, 2023).</a:t>
            </a:r>
          </a:p>
          <a:p>
            <a:pPr lvl="1">
              <a:buFont typeface="Arial" panose="020B0604020202020204" pitchFamily="34" charset="0"/>
              <a:buChar char="•"/>
            </a:pPr>
            <a:r>
              <a:rPr lang="en-US" sz="1200" dirty="0"/>
              <a:t>Mohamed et al. (2023) evaluated multiple studies comparing telemedicine (TM) and non-telemedicine (NTM) for acute ischemic stroke (AIS) patients between 1999 and 2022 and concluded that the use of telestroke in the treatment of AIS patients is safe with minimal differences in long-term outcomes compared with face-to-face treatment.</a:t>
            </a:r>
          </a:p>
        </p:txBody>
      </p:sp>
    </p:spTree>
    <p:extLst>
      <p:ext uri="{BB962C8B-B14F-4D97-AF65-F5344CB8AC3E}">
        <p14:creationId xmlns:p14="http://schemas.microsoft.com/office/powerpoint/2010/main" val="734377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6DA3D-2670-C34A-470C-F5764C270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1B69F-B001-B790-4661-DD471DC7E55F}"/>
              </a:ext>
            </a:extLst>
          </p:cNvPr>
          <p:cNvSpPr>
            <a:spLocks noGrp="1"/>
          </p:cNvSpPr>
          <p:nvPr>
            <p:ph type="title"/>
          </p:nvPr>
        </p:nvSpPr>
        <p:spPr>
          <a:xfrm>
            <a:off x="361951" y="286603"/>
            <a:ext cx="11356280" cy="1450757"/>
          </a:xfrm>
        </p:spPr>
        <p:txBody>
          <a:bodyPr vert="horz" lIns="91440" tIns="45720" rIns="91440" bIns="45720" rtlCol="0">
            <a:normAutofit/>
          </a:bodyPr>
          <a:lstStyle/>
          <a:p>
            <a:r>
              <a:rPr lang="en-US" sz="3600" dirty="0"/>
              <a:t>Pneumonia and Cardiac Arrest– Tree of thoughts</a:t>
            </a:r>
          </a:p>
        </p:txBody>
      </p:sp>
      <p:sp>
        <p:nvSpPr>
          <p:cNvPr id="6" name="Content Placeholder 4">
            <a:extLst>
              <a:ext uri="{FF2B5EF4-FFF2-40B4-BE49-F238E27FC236}">
                <a16:creationId xmlns:a16="http://schemas.microsoft.com/office/drawing/2014/main" id="{2EE7EF66-0A00-77C6-6B66-995646271EC7}"/>
              </a:ext>
            </a:extLst>
          </p:cNvPr>
          <p:cNvSpPr txBox="1">
            <a:spLocks/>
          </p:cNvSpPr>
          <p:nvPr/>
        </p:nvSpPr>
        <p:spPr>
          <a:xfrm>
            <a:off x="94926" y="2884871"/>
            <a:ext cx="2021780" cy="448242"/>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1400" dirty="0"/>
              <a:t>ChatGPT answer:</a:t>
            </a:r>
          </a:p>
          <a:p>
            <a:pPr lvl="1">
              <a:buFont typeface="Arial" panose="020B0604020202020204" pitchFamily="34" charset="0"/>
              <a:buChar char="•"/>
            </a:pPr>
            <a:endParaRPr lang="en-US" sz="1600" dirty="0"/>
          </a:p>
        </p:txBody>
      </p:sp>
      <p:sp>
        <p:nvSpPr>
          <p:cNvPr id="7" name="Content Placeholder 4">
            <a:extLst>
              <a:ext uri="{FF2B5EF4-FFF2-40B4-BE49-F238E27FC236}">
                <a16:creationId xmlns:a16="http://schemas.microsoft.com/office/drawing/2014/main" id="{795DE437-FDA9-6C4C-2A78-C9C8A086AE64}"/>
              </a:ext>
            </a:extLst>
          </p:cNvPr>
          <p:cNvSpPr txBox="1">
            <a:spLocks/>
          </p:cNvSpPr>
          <p:nvPr/>
        </p:nvSpPr>
        <p:spPr>
          <a:xfrm>
            <a:off x="94926" y="1889976"/>
            <a:ext cx="1412179" cy="329758"/>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1400" dirty="0"/>
              <a:t>Prompt:</a:t>
            </a:r>
          </a:p>
          <a:p>
            <a:pPr lvl="1">
              <a:buFont typeface="Arial" panose="020B0604020202020204" pitchFamily="34" charset="0"/>
              <a:buChar char="•"/>
            </a:pPr>
            <a:endParaRPr lang="en-US" sz="1600" dirty="0"/>
          </a:p>
        </p:txBody>
      </p:sp>
      <p:pic>
        <p:nvPicPr>
          <p:cNvPr id="4" name="Picture 3">
            <a:extLst>
              <a:ext uri="{FF2B5EF4-FFF2-40B4-BE49-F238E27FC236}">
                <a16:creationId xmlns:a16="http://schemas.microsoft.com/office/drawing/2014/main" id="{57C41FBE-16BA-576C-A82A-B8D422E60983}"/>
              </a:ext>
            </a:extLst>
          </p:cNvPr>
          <p:cNvPicPr>
            <a:picLocks noChangeAspect="1"/>
          </p:cNvPicPr>
          <p:nvPr/>
        </p:nvPicPr>
        <p:blipFill>
          <a:blip r:embed="rId2"/>
          <a:stretch>
            <a:fillRect/>
          </a:stretch>
        </p:blipFill>
        <p:spPr>
          <a:xfrm>
            <a:off x="1031180" y="1936717"/>
            <a:ext cx="10687050" cy="948154"/>
          </a:xfrm>
          <a:prstGeom prst="rect">
            <a:avLst/>
          </a:prstGeom>
        </p:spPr>
      </p:pic>
      <p:pic>
        <p:nvPicPr>
          <p:cNvPr id="10" name="Picture 9" descr="A screenshot of a medical survey&#10;&#10;AI-generated content may be incorrect.">
            <a:extLst>
              <a:ext uri="{FF2B5EF4-FFF2-40B4-BE49-F238E27FC236}">
                <a16:creationId xmlns:a16="http://schemas.microsoft.com/office/drawing/2014/main" id="{B68A6CD8-2B56-F68B-E791-C27CE64518E2}"/>
              </a:ext>
            </a:extLst>
          </p:cNvPr>
          <p:cNvPicPr>
            <a:picLocks noChangeAspect="1"/>
          </p:cNvPicPr>
          <p:nvPr/>
        </p:nvPicPr>
        <p:blipFill>
          <a:blip r:embed="rId3"/>
          <a:stretch>
            <a:fillRect/>
          </a:stretch>
        </p:blipFill>
        <p:spPr>
          <a:xfrm>
            <a:off x="2000371" y="3000375"/>
            <a:ext cx="2250907" cy="3310891"/>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FDF13575-AC59-CDE5-E521-B4D0CB3CF138}"/>
              </a:ext>
            </a:extLst>
          </p:cNvPr>
          <p:cNvPicPr>
            <a:picLocks noChangeAspect="1"/>
          </p:cNvPicPr>
          <p:nvPr/>
        </p:nvPicPr>
        <p:blipFill>
          <a:blip r:embed="rId4"/>
          <a:stretch>
            <a:fillRect/>
          </a:stretch>
        </p:blipFill>
        <p:spPr>
          <a:xfrm>
            <a:off x="7543583" y="2931612"/>
            <a:ext cx="2405348" cy="3469188"/>
          </a:xfrm>
          <a:prstGeom prst="rect">
            <a:avLst/>
          </a:prstGeom>
        </p:spPr>
      </p:pic>
      <p:pic>
        <p:nvPicPr>
          <p:cNvPr id="16" name="Picture 15" descr="A white background with black text&#10;&#10;AI-generated content may be incorrect.">
            <a:extLst>
              <a:ext uri="{FF2B5EF4-FFF2-40B4-BE49-F238E27FC236}">
                <a16:creationId xmlns:a16="http://schemas.microsoft.com/office/drawing/2014/main" id="{5FF7D16F-B9A6-037A-28D0-0BB9B3B90E93}"/>
              </a:ext>
            </a:extLst>
          </p:cNvPr>
          <p:cNvPicPr>
            <a:picLocks noChangeAspect="1"/>
          </p:cNvPicPr>
          <p:nvPr/>
        </p:nvPicPr>
        <p:blipFill>
          <a:blip r:embed="rId5"/>
          <a:stretch>
            <a:fillRect/>
          </a:stretch>
        </p:blipFill>
        <p:spPr>
          <a:xfrm>
            <a:off x="4368343" y="3000375"/>
            <a:ext cx="2048359" cy="1199591"/>
          </a:xfrm>
          <a:prstGeom prst="rect">
            <a:avLst/>
          </a:prstGeom>
        </p:spPr>
      </p:pic>
      <p:pic>
        <p:nvPicPr>
          <p:cNvPr id="20" name="Picture 19" descr="A white background with black text&#10;&#10;AI-generated content may be incorrect.">
            <a:extLst>
              <a:ext uri="{FF2B5EF4-FFF2-40B4-BE49-F238E27FC236}">
                <a16:creationId xmlns:a16="http://schemas.microsoft.com/office/drawing/2014/main" id="{8AE0403F-2879-64E7-9F85-7F7A5564D419}"/>
              </a:ext>
            </a:extLst>
          </p:cNvPr>
          <p:cNvPicPr>
            <a:picLocks noChangeAspect="1"/>
          </p:cNvPicPr>
          <p:nvPr/>
        </p:nvPicPr>
        <p:blipFill>
          <a:blip r:embed="rId6"/>
          <a:stretch>
            <a:fillRect/>
          </a:stretch>
        </p:blipFill>
        <p:spPr>
          <a:xfrm>
            <a:off x="4251278" y="4376804"/>
            <a:ext cx="2960555" cy="888167"/>
          </a:xfrm>
          <a:prstGeom prst="rect">
            <a:avLst/>
          </a:prstGeom>
        </p:spPr>
      </p:pic>
    </p:spTree>
    <p:extLst>
      <p:ext uri="{BB962C8B-B14F-4D97-AF65-F5344CB8AC3E}">
        <p14:creationId xmlns:p14="http://schemas.microsoft.com/office/powerpoint/2010/main" val="3623680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1A67D-2D03-3BF0-3170-45CD98A99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DAE179-7E83-0ED9-B080-DC80E00AE315}"/>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Parkinson’s Disease Dataset</a:t>
            </a:r>
          </a:p>
        </p:txBody>
      </p:sp>
      <p:sp>
        <p:nvSpPr>
          <p:cNvPr id="5" name="Content Placeholder 4">
            <a:extLst>
              <a:ext uri="{FF2B5EF4-FFF2-40B4-BE49-F238E27FC236}">
                <a16:creationId xmlns:a16="http://schemas.microsoft.com/office/drawing/2014/main" id="{A50D147B-4A28-F119-3D65-8427A0A99871}"/>
              </a:ext>
            </a:extLst>
          </p:cNvPr>
          <p:cNvSpPr>
            <a:spLocks noGrp="1"/>
          </p:cNvSpPr>
          <p:nvPr>
            <p:ph idx="1"/>
          </p:nvPr>
        </p:nvSpPr>
        <p:spPr>
          <a:xfrm>
            <a:off x="1097280" y="1952352"/>
            <a:ext cx="10581249" cy="4265568"/>
          </a:xfrm>
        </p:spPr>
        <p:txBody>
          <a:bodyPr>
            <a:noAutofit/>
          </a:bodyPr>
          <a:lstStyle/>
          <a:p>
            <a:pPr lvl="1">
              <a:buFont typeface="Arial" panose="020B0604020202020204" pitchFamily="34" charset="0"/>
              <a:buChar char="•"/>
            </a:pPr>
            <a:r>
              <a:rPr lang="en-US" sz="1600" dirty="0"/>
              <a:t>Dataset with comprehensive health information for diagnosing Parkinson’s Disease. </a:t>
            </a:r>
          </a:p>
          <a:p>
            <a:pPr lvl="1">
              <a:buFont typeface="Arial" panose="020B0604020202020204" pitchFamily="34" charset="0"/>
              <a:buChar char="•"/>
            </a:pPr>
            <a:r>
              <a:rPr lang="en-US" sz="1600" dirty="0"/>
              <a:t>Original dataset provided by Mr. Rabie El Kharoua.</a:t>
            </a:r>
          </a:p>
          <a:p>
            <a:pPr lvl="1">
              <a:buFont typeface="Arial" panose="020B0604020202020204" pitchFamily="34" charset="0"/>
              <a:buChar char="•"/>
            </a:pPr>
            <a:r>
              <a:rPr lang="en-US" sz="1600" dirty="0"/>
              <a:t>2,105 patients with demographic details, lifestyle factors, medical history, clinical measurements, cognitive and functional assessments, symptoms, and a diagnosis indicator.</a:t>
            </a:r>
          </a:p>
          <a:p>
            <a:pPr lvl="1">
              <a:buFont typeface="Arial" panose="020B0604020202020204" pitchFamily="34" charset="0"/>
              <a:buChar char="•"/>
            </a:pPr>
            <a:r>
              <a:rPr lang="en-US" sz="1600" dirty="0"/>
              <a:t>Source: https://www.kaggle.com/datasets/rabieelkharoua/parkinsons-disease-dataset-analysis/data, Kaggle</a:t>
            </a:r>
          </a:p>
          <a:p>
            <a:pPr lvl="1">
              <a:buFont typeface="Arial" panose="020B0604020202020204" pitchFamily="34" charset="0"/>
              <a:buChar char="•"/>
            </a:pPr>
            <a:r>
              <a:rPr lang="en-US" sz="1600" dirty="0"/>
              <a:t>For LLM Analysis, only the following attributes are used:</a:t>
            </a:r>
          </a:p>
          <a:p>
            <a:pPr lvl="2">
              <a:buFont typeface="Arial" panose="020B0604020202020204" pitchFamily="34" charset="0"/>
              <a:buChar char="•"/>
            </a:pPr>
            <a:r>
              <a:rPr lang="en-US" sz="1200" b="1" dirty="0"/>
              <a:t>Age</a:t>
            </a:r>
            <a:r>
              <a:rPr lang="en-US" sz="1200" dirty="0"/>
              <a:t>: The age of the patients ranges from 50 to 90 years.</a:t>
            </a:r>
          </a:p>
          <a:p>
            <a:pPr lvl="2">
              <a:buFont typeface="Arial" panose="020B0604020202020204" pitchFamily="34" charset="0"/>
              <a:buChar char="•"/>
            </a:pPr>
            <a:r>
              <a:rPr lang="en-US" sz="1200" b="1" dirty="0"/>
              <a:t>Diet Quality</a:t>
            </a:r>
            <a:r>
              <a:rPr lang="en-US" sz="1200" dirty="0"/>
              <a:t>: Diet quality score, ranging from 0 to 10.</a:t>
            </a:r>
          </a:p>
          <a:p>
            <a:pPr lvl="2">
              <a:buFont typeface="Arial" panose="020B0604020202020204" pitchFamily="34" charset="0"/>
              <a:buChar char="•"/>
            </a:pPr>
            <a:r>
              <a:rPr lang="en-US" sz="1200" b="1" dirty="0"/>
              <a:t>UPDRS</a:t>
            </a:r>
            <a:r>
              <a:rPr lang="en-US" sz="1200" dirty="0"/>
              <a:t>: Unified Parkinson's Disease Rating Scale score, ranging from 0 to 199. Higher scores indicate greater severity of the disease.</a:t>
            </a:r>
          </a:p>
          <a:p>
            <a:pPr lvl="2">
              <a:buFont typeface="Arial" panose="020B0604020202020204" pitchFamily="34" charset="0"/>
              <a:buChar char="•"/>
            </a:pPr>
            <a:r>
              <a:rPr lang="en-US" sz="1200" b="1" dirty="0"/>
              <a:t>MoCA</a:t>
            </a:r>
            <a:r>
              <a:rPr lang="en-US" sz="1200" dirty="0"/>
              <a:t>: Montreal Cognitive Assessment score, ranging from 0 to 30. Lower scores indicate cognitive impairment.</a:t>
            </a:r>
          </a:p>
          <a:p>
            <a:pPr lvl="2">
              <a:buFont typeface="Arial" panose="020B0604020202020204" pitchFamily="34" charset="0"/>
              <a:buChar char="•"/>
            </a:pPr>
            <a:r>
              <a:rPr lang="en-US" sz="1200" b="1" dirty="0"/>
              <a:t>FunctionalAssessment</a:t>
            </a:r>
            <a:r>
              <a:rPr lang="en-US" sz="1200" dirty="0"/>
              <a:t>: Functional assessment score, ranging from 0 to 10. Lower scores indicate greater impairment.</a:t>
            </a:r>
          </a:p>
          <a:p>
            <a:pPr lvl="2">
              <a:buFont typeface="Arial" panose="020B0604020202020204" pitchFamily="34" charset="0"/>
              <a:buChar char="•"/>
            </a:pPr>
            <a:r>
              <a:rPr lang="en-US" sz="1200" b="1" dirty="0"/>
              <a:t>Tremor</a:t>
            </a:r>
            <a:r>
              <a:rPr lang="en-US" sz="1200" dirty="0"/>
              <a:t>: Presence of tremor, where 0 indicates No and 1 indicates Yes.</a:t>
            </a:r>
          </a:p>
          <a:p>
            <a:pPr lvl="2">
              <a:buFont typeface="Arial" panose="020B0604020202020204" pitchFamily="34" charset="0"/>
              <a:buChar char="•"/>
            </a:pPr>
            <a:r>
              <a:rPr lang="en-US" sz="1200" b="1" dirty="0"/>
              <a:t>Rigidity</a:t>
            </a:r>
            <a:r>
              <a:rPr lang="en-US" sz="1200" dirty="0"/>
              <a:t>: Presence of muscle rigidity, where 0 indicates No and 1 indicates Yes.</a:t>
            </a:r>
          </a:p>
          <a:p>
            <a:pPr lvl="2">
              <a:buFont typeface="Arial" panose="020B0604020202020204" pitchFamily="34" charset="0"/>
              <a:buChar char="•"/>
            </a:pPr>
            <a:r>
              <a:rPr lang="en-US" sz="1200" b="1" dirty="0"/>
              <a:t>Bradykinesia</a:t>
            </a:r>
            <a:r>
              <a:rPr lang="en-US" sz="1200" dirty="0"/>
              <a:t>: Presence of bradykinesia (slowness of movement), where 0 indicates No and 1 indicates Yes.</a:t>
            </a:r>
          </a:p>
          <a:p>
            <a:pPr lvl="2">
              <a:buFont typeface="Arial" panose="020B0604020202020204" pitchFamily="34" charset="0"/>
              <a:buChar char="•"/>
            </a:pPr>
            <a:r>
              <a:rPr lang="en-US" sz="1200" b="1" dirty="0"/>
              <a:t>Diagnosis</a:t>
            </a:r>
            <a:r>
              <a:rPr lang="en-US" sz="1200" dirty="0"/>
              <a:t>: Diagnosis status for Parkinson's Disease, where 0 indicates No and 1 indicates Yes.</a:t>
            </a:r>
          </a:p>
        </p:txBody>
      </p:sp>
    </p:spTree>
    <p:extLst>
      <p:ext uri="{BB962C8B-B14F-4D97-AF65-F5344CB8AC3E}">
        <p14:creationId xmlns:p14="http://schemas.microsoft.com/office/powerpoint/2010/main" val="2823630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6866D-CCB0-F4F0-60DA-091EDA3D3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6653A-260A-7F61-0F71-8216753E553A}"/>
              </a:ext>
            </a:extLst>
          </p:cNvPr>
          <p:cNvSpPr>
            <a:spLocks noGrp="1"/>
          </p:cNvSpPr>
          <p:nvPr>
            <p:ph type="title"/>
          </p:nvPr>
        </p:nvSpPr>
        <p:spPr>
          <a:xfrm>
            <a:off x="381663" y="286603"/>
            <a:ext cx="11211339" cy="1450757"/>
          </a:xfrm>
        </p:spPr>
        <p:txBody>
          <a:bodyPr vert="horz" lIns="91440" tIns="45720" rIns="91440" bIns="45720" rtlCol="0">
            <a:normAutofit/>
          </a:bodyPr>
          <a:lstStyle/>
          <a:p>
            <a:r>
              <a:rPr lang="en-US" sz="3600" dirty="0"/>
              <a:t>Zero-shot ChatGPT Parkinson's disease prediction</a:t>
            </a:r>
          </a:p>
        </p:txBody>
      </p:sp>
      <p:sp>
        <p:nvSpPr>
          <p:cNvPr id="6" name="Content Placeholder 4">
            <a:extLst>
              <a:ext uri="{FF2B5EF4-FFF2-40B4-BE49-F238E27FC236}">
                <a16:creationId xmlns:a16="http://schemas.microsoft.com/office/drawing/2014/main" id="{1804A964-B401-6FAF-EAED-570084864424}"/>
              </a:ext>
            </a:extLst>
          </p:cNvPr>
          <p:cNvSpPr txBox="1">
            <a:spLocks/>
          </p:cNvSpPr>
          <p:nvPr/>
        </p:nvSpPr>
        <p:spPr>
          <a:xfrm>
            <a:off x="94926" y="1889976"/>
            <a:ext cx="1423773" cy="329758"/>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1400" dirty="0"/>
              <a:t>Sample Prompt:</a:t>
            </a:r>
          </a:p>
          <a:p>
            <a:pPr lvl="1">
              <a:buFont typeface="Arial" panose="020B0604020202020204" pitchFamily="34" charset="0"/>
              <a:buChar char="•"/>
            </a:pPr>
            <a:endParaRPr lang="en-US" sz="1600" dirty="0"/>
          </a:p>
        </p:txBody>
      </p:sp>
      <p:pic>
        <p:nvPicPr>
          <p:cNvPr id="8" name="Picture 7">
            <a:extLst>
              <a:ext uri="{FF2B5EF4-FFF2-40B4-BE49-F238E27FC236}">
                <a16:creationId xmlns:a16="http://schemas.microsoft.com/office/drawing/2014/main" id="{5E72F3C9-4787-DA36-443C-77EBDD8B6201}"/>
              </a:ext>
            </a:extLst>
          </p:cNvPr>
          <p:cNvPicPr>
            <a:picLocks noChangeAspect="1"/>
          </p:cNvPicPr>
          <p:nvPr/>
        </p:nvPicPr>
        <p:blipFill>
          <a:blip r:embed="rId2"/>
          <a:stretch>
            <a:fillRect/>
          </a:stretch>
        </p:blipFill>
        <p:spPr>
          <a:xfrm>
            <a:off x="1518699" y="1929448"/>
            <a:ext cx="9735047" cy="580571"/>
          </a:xfrm>
          <a:prstGeom prst="rect">
            <a:avLst/>
          </a:prstGeom>
        </p:spPr>
      </p:pic>
      <p:pic>
        <p:nvPicPr>
          <p:cNvPr id="10" name="Picture 9" descr="A screen shot of a computer code&#10;&#10;AI-generated content may be incorrect.">
            <a:extLst>
              <a:ext uri="{FF2B5EF4-FFF2-40B4-BE49-F238E27FC236}">
                <a16:creationId xmlns:a16="http://schemas.microsoft.com/office/drawing/2014/main" id="{370ED116-84F0-CAE1-D127-253296DAB2C6}"/>
              </a:ext>
            </a:extLst>
          </p:cNvPr>
          <p:cNvPicPr>
            <a:picLocks noChangeAspect="1"/>
          </p:cNvPicPr>
          <p:nvPr/>
        </p:nvPicPr>
        <p:blipFill>
          <a:blip r:embed="rId3"/>
          <a:stretch>
            <a:fillRect/>
          </a:stretch>
        </p:blipFill>
        <p:spPr>
          <a:xfrm>
            <a:off x="365582" y="2549491"/>
            <a:ext cx="4262077" cy="856462"/>
          </a:xfrm>
          <a:prstGeom prst="rect">
            <a:avLst/>
          </a:prstGeom>
        </p:spPr>
      </p:pic>
      <p:pic>
        <p:nvPicPr>
          <p:cNvPr id="12" name="Picture 11" descr="A computer screen shot of a computer code&#10;&#10;AI-generated content may be incorrect.">
            <a:extLst>
              <a:ext uri="{FF2B5EF4-FFF2-40B4-BE49-F238E27FC236}">
                <a16:creationId xmlns:a16="http://schemas.microsoft.com/office/drawing/2014/main" id="{0DB0290D-264E-9D26-1168-073FA51A078E}"/>
              </a:ext>
            </a:extLst>
          </p:cNvPr>
          <p:cNvPicPr>
            <a:picLocks noChangeAspect="1"/>
          </p:cNvPicPr>
          <p:nvPr/>
        </p:nvPicPr>
        <p:blipFill>
          <a:blip r:embed="rId4"/>
          <a:stretch>
            <a:fillRect/>
          </a:stretch>
        </p:blipFill>
        <p:spPr>
          <a:xfrm>
            <a:off x="365582" y="3473807"/>
            <a:ext cx="4262077" cy="2558335"/>
          </a:xfrm>
          <a:prstGeom prst="rect">
            <a:avLst/>
          </a:prstGeom>
        </p:spPr>
      </p:pic>
      <p:pic>
        <p:nvPicPr>
          <p:cNvPr id="14" name="Picture 13" descr="A close-up of a computer code&#10;&#10;AI-generated content may be incorrect.">
            <a:extLst>
              <a:ext uri="{FF2B5EF4-FFF2-40B4-BE49-F238E27FC236}">
                <a16:creationId xmlns:a16="http://schemas.microsoft.com/office/drawing/2014/main" id="{5429FF35-CC44-AB69-C6D5-038514C33A1B}"/>
              </a:ext>
            </a:extLst>
          </p:cNvPr>
          <p:cNvPicPr>
            <a:picLocks noChangeAspect="1"/>
          </p:cNvPicPr>
          <p:nvPr/>
        </p:nvPicPr>
        <p:blipFill>
          <a:blip r:embed="rId5"/>
          <a:stretch>
            <a:fillRect/>
          </a:stretch>
        </p:blipFill>
        <p:spPr>
          <a:xfrm>
            <a:off x="4688820" y="2549491"/>
            <a:ext cx="6482764" cy="1126910"/>
          </a:xfrm>
          <a:prstGeom prst="rect">
            <a:avLst/>
          </a:prstGeom>
        </p:spPr>
      </p:pic>
      <p:pic>
        <p:nvPicPr>
          <p:cNvPr id="16" name="Picture 15" descr="A screen shot of a computer code&#10;&#10;AI-generated content may be incorrect.">
            <a:extLst>
              <a:ext uri="{FF2B5EF4-FFF2-40B4-BE49-F238E27FC236}">
                <a16:creationId xmlns:a16="http://schemas.microsoft.com/office/drawing/2014/main" id="{73DF7EE9-A27D-A81B-32D9-FD231B085FD3}"/>
              </a:ext>
            </a:extLst>
          </p:cNvPr>
          <p:cNvPicPr>
            <a:picLocks noChangeAspect="1"/>
          </p:cNvPicPr>
          <p:nvPr/>
        </p:nvPicPr>
        <p:blipFill>
          <a:blip r:embed="rId6"/>
          <a:stretch>
            <a:fillRect/>
          </a:stretch>
        </p:blipFill>
        <p:spPr>
          <a:xfrm>
            <a:off x="4688820" y="3715873"/>
            <a:ext cx="3262484" cy="1648559"/>
          </a:xfrm>
          <a:prstGeom prst="rect">
            <a:avLst/>
          </a:prstGeom>
        </p:spPr>
      </p:pic>
      <p:pic>
        <p:nvPicPr>
          <p:cNvPr id="18" name="Picture 17" descr="A screenshot of a computer code&#10;&#10;AI-generated content may be incorrect.">
            <a:extLst>
              <a:ext uri="{FF2B5EF4-FFF2-40B4-BE49-F238E27FC236}">
                <a16:creationId xmlns:a16="http://schemas.microsoft.com/office/drawing/2014/main" id="{78D11A98-B40E-70C0-3497-1CB9D11D6229}"/>
              </a:ext>
            </a:extLst>
          </p:cNvPr>
          <p:cNvPicPr>
            <a:picLocks noChangeAspect="1"/>
          </p:cNvPicPr>
          <p:nvPr/>
        </p:nvPicPr>
        <p:blipFill>
          <a:blip r:embed="rId7"/>
          <a:stretch>
            <a:fillRect/>
          </a:stretch>
        </p:blipFill>
        <p:spPr>
          <a:xfrm>
            <a:off x="8069014" y="4917677"/>
            <a:ext cx="2975864" cy="1006045"/>
          </a:xfrm>
          <a:prstGeom prst="rect">
            <a:avLst/>
          </a:prstGeom>
        </p:spPr>
      </p:pic>
    </p:spTree>
    <p:extLst>
      <p:ext uri="{BB962C8B-B14F-4D97-AF65-F5344CB8AC3E}">
        <p14:creationId xmlns:p14="http://schemas.microsoft.com/office/powerpoint/2010/main" val="2192131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E9D7A-4A98-0602-C149-F73B5D7B2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D0252-3AEB-4F53-982F-B8E0695C55B0}"/>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Import libraries and data load</a:t>
            </a:r>
          </a:p>
        </p:txBody>
      </p:sp>
      <p:sp>
        <p:nvSpPr>
          <p:cNvPr id="5" name="Content Placeholder 4">
            <a:extLst>
              <a:ext uri="{FF2B5EF4-FFF2-40B4-BE49-F238E27FC236}">
                <a16:creationId xmlns:a16="http://schemas.microsoft.com/office/drawing/2014/main" id="{F339150E-F4C4-A691-CEE8-A2ED0558E3D8}"/>
              </a:ext>
            </a:extLst>
          </p:cNvPr>
          <p:cNvSpPr>
            <a:spLocks noGrp="1"/>
          </p:cNvSpPr>
          <p:nvPr>
            <p:ph idx="1"/>
          </p:nvPr>
        </p:nvSpPr>
        <p:spPr>
          <a:xfrm>
            <a:off x="6573879" y="2139950"/>
            <a:ext cx="4943451" cy="2185470"/>
          </a:xfrm>
        </p:spPr>
        <p:txBody>
          <a:bodyPr>
            <a:noAutofit/>
          </a:bodyPr>
          <a:lstStyle/>
          <a:p>
            <a:pPr>
              <a:buFont typeface="Arial" panose="020B0604020202020204" pitchFamily="34" charset="0"/>
              <a:buChar char="•"/>
            </a:pPr>
            <a:r>
              <a:rPr lang="en-US" sz="1400" dirty="0"/>
              <a:t>Predicting death in the hospital is a binary classification, therefore classifiers are used as algorithm and imported here.</a:t>
            </a:r>
          </a:p>
          <a:p>
            <a:pPr>
              <a:buFont typeface="Arial" panose="020B0604020202020204" pitchFamily="34" charset="0"/>
              <a:buChar char="•"/>
            </a:pPr>
            <a:r>
              <a:rPr lang="en-US" sz="1400" dirty="0"/>
              <a:t>MIMIC III dataset is available in the </a:t>
            </a:r>
            <a:r>
              <a:rPr lang="en-US" sz="1400" dirty="0" err="1"/>
              <a:t>gzip</a:t>
            </a:r>
            <a:r>
              <a:rPr lang="en-US" sz="1400" dirty="0"/>
              <a:t> format</a:t>
            </a:r>
          </a:p>
          <a:p>
            <a:pPr>
              <a:buFont typeface="Arial" panose="020B0604020202020204" pitchFamily="34" charset="0"/>
              <a:buChar char="•"/>
            </a:pPr>
            <a:r>
              <a:rPr lang="en-US" sz="1400" dirty="0"/>
              <a:t>HOSPITAL_EXPIRE_FLAG is used to determine patient’s death in the hospital. </a:t>
            </a:r>
          </a:p>
          <a:p>
            <a:pPr>
              <a:buFont typeface="Arial" panose="020B0604020202020204" pitchFamily="34" charset="0"/>
              <a:buChar char="•"/>
            </a:pPr>
            <a:r>
              <a:rPr lang="en-US" sz="1400" dirty="0"/>
              <a:t>There are 5,854 in-hospital deaths from the raw dataset.</a:t>
            </a:r>
          </a:p>
        </p:txBody>
      </p:sp>
      <p:pic>
        <p:nvPicPr>
          <p:cNvPr id="4" name="Picture 3" descr="A screenshot of a computer program&#10;&#10;AI-generated content may be incorrect.">
            <a:extLst>
              <a:ext uri="{FF2B5EF4-FFF2-40B4-BE49-F238E27FC236}">
                <a16:creationId xmlns:a16="http://schemas.microsoft.com/office/drawing/2014/main" id="{3A69810D-7769-5D7C-2330-ECB6ED2FF240}"/>
              </a:ext>
            </a:extLst>
          </p:cNvPr>
          <p:cNvPicPr>
            <a:picLocks noChangeAspect="1"/>
          </p:cNvPicPr>
          <p:nvPr/>
        </p:nvPicPr>
        <p:blipFill>
          <a:blip r:embed="rId2"/>
          <a:stretch>
            <a:fillRect/>
          </a:stretch>
        </p:blipFill>
        <p:spPr>
          <a:xfrm>
            <a:off x="1289332" y="1989447"/>
            <a:ext cx="5090920" cy="2879106"/>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74E8FCE1-874E-E6AC-8765-014D169E9A9E}"/>
              </a:ext>
            </a:extLst>
          </p:cNvPr>
          <p:cNvPicPr>
            <a:picLocks noChangeAspect="1"/>
          </p:cNvPicPr>
          <p:nvPr/>
        </p:nvPicPr>
        <p:blipFill>
          <a:blip r:embed="rId3"/>
          <a:stretch>
            <a:fillRect/>
          </a:stretch>
        </p:blipFill>
        <p:spPr>
          <a:xfrm>
            <a:off x="1369298" y="5120640"/>
            <a:ext cx="2265682" cy="838371"/>
          </a:xfrm>
          <a:prstGeom prst="rect">
            <a:avLst/>
          </a:prstGeom>
        </p:spPr>
      </p:pic>
    </p:spTree>
    <p:extLst>
      <p:ext uri="{BB962C8B-B14F-4D97-AF65-F5344CB8AC3E}">
        <p14:creationId xmlns:p14="http://schemas.microsoft.com/office/powerpoint/2010/main" val="786158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5D8A5-95C6-0EC6-B741-7AB3AD828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C256F-C4DD-0DD9-F143-3A494202FBD8}"/>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Admission Data Exploration</a:t>
            </a:r>
          </a:p>
        </p:txBody>
      </p:sp>
      <p:sp>
        <p:nvSpPr>
          <p:cNvPr id="5" name="Content Placeholder 4">
            <a:extLst>
              <a:ext uri="{FF2B5EF4-FFF2-40B4-BE49-F238E27FC236}">
                <a16:creationId xmlns:a16="http://schemas.microsoft.com/office/drawing/2014/main" id="{690EFF8D-A7AA-5DD8-E7F2-E50D76CD91B6}"/>
              </a:ext>
            </a:extLst>
          </p:cNvPr>
          <p:cNvSpPr>
            <a:spLocks noGrp="1"/>
          </p:cNvSpPr>
          <p:nvPr>
            <p:ph idx="1"/>
          </p:nvPr>
        </p:nvSpPr>
        <p:spPr>
          <a:xfrm>
            <a:off x="1447074" y="4027906"/>
            <a:ext cx="6597591" cy="1653702"/>
          </a:xfrm>
        </p:spPr>
        <p:txBody>
          <a:bodyPr>
            <a:noAutofit/>
          </a:bodyPr>
          <a:lstStyle/>
          <a:p>
            <a:pPr>
              <a:buFont typeface="Arial" panose="020B0604020202020204" pitchFamily="34" charset="0"/>
              <a:buChar char="•"/>
            </a:pPr>
            <a:r>
              <a:rPr lang="en-US" sz="1400" dirty="0"/>
              <a:t>LOS is calculated to include only patients that are still alive at the time of admission</a:t>
            </a:r>
          </a:p>
          <a:p>
            <a:pPr>
              <a:buFont typeface="Arial" panose="020B0604020202020204" pitchFamily="34" charset="0"/>
              <a:buChar char="•"/>
            </a:pPr>
            <a:r>
              <a:rPr lang="en-US" sz="1400" dirty="0"/>
              <a:t>80 records are removed from the dataset (LOS &lt;=0)</a:t>
            </a:r>
          </a:p>
          <a:p>
            <a:pPr>
              <a:buFont typeface="Arial" panose="020B0604020202020204" pitchFamily="34" charset="0"/>
              <a:buChar char="•"/>
            </a:pPr>
            <a:r>
              <a:rPr lang="en-US" sz="1400" dirty="0"/>
              <a:t>There are many missing data for LANGUAGE and MARITAL_STATUS therefore these features won’t be used in the analysis</a:t>
            </a:r>
          </a:p>
        </p:txBody>
      </p:sp>
      <p:pic>
        <p:nvPicPr>
          <p:cNvPr id="6" name="Picture 5" descr="A screenshot of a computer code&#10;&#10;AI-generated content may be incorrect.">
            <a:extLst>
              <a:ext uri="{FF2B5EF4-FFF2-40B4-BE49-F238E27FC236}">
                <a16:creationId xmlns:a16="http://schemas.microsoft.com/office/drawing/2014/main" id="{1D5192A4-4483-CB19-9E16-5E578EEAEB5A}"/>
              </a:ext>
            </a:extLst>
          </p:cNvPr>
          <p:cNvPicPr>
            <a:picLocks noChangeAspect="1"/>
          </p:cNvPicPr>
          <p:nvPr/>
        </p:nvPicPr>
        <p:blipFill>
          <a:blip r:embed="rId2"/>
          <a:stretch>
            <a:fillRect/>
          </a:stretch>
        </p:blipFill>
        <p:spPr>
          <a:xfrm>
            <a:off x="3259743" y="2084279"/>
            <a:ext cx="3873699" cy="1816193"/>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C9346883-A816-1E21-02AB-5F43DC60D6E9}"/>
              </a:ext>
            </a:extLst>
          </p:cNvPr>
          <p:cNvPicPr>
            <a:picLocks noChangeAspect="1"/>
          </p:cNvPicPr>
          <p:nvPr/>
        </p:nvPicPr>
        <p:blipFill>
          <a:blip r:embed="rId3"/>
          <a:stretch>
            <a:fillRect/>
          </a:stretch>
        </p:blipFill>
        <p:spPr>
          <a:xfrm>
            <a:off x="8336686" y="2027743"/>
            <a:ext cx="2661457" cy="3653865"/>
          </a:xfrm>
          <a:prstGeom prst="rect">
            <a:avLst/>
          </a:prstGeom>
        </p:spPr>
      </p:pic>
    </p:spTree>
    <p:extLst>
      <p:ext uri="{BB962C8B-B14F-4D97-AF65-F5344CB8AC3E}">
        <p14:creationId xmlns:p14="http://schemas.microsoft.com/office/powerpoint/2010/main" val="3105259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6BB0D-7D8A-5E15-4C1C-006CD35B9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BD2D9-7ED4-58D0-56E8-0DCDF08CF0C1}"/>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Admission Feature Engineering: </a:t>
            </a:r>
            <a:br>
              <a:rPr lang="en-US" sz="3600" dirty="0"/>
            </a:br>
            <a:r>
              <a:rPr lang="en-US" sz="3600" dirty="0"/>
              <a:t>Ethnicity and Religion</a:t>
            </a:r>
          </a:p>
        </p:txBody>
      </p:sp>
      <p:sp>
        <p:nvSpPr>
          <p:cNvPr id="5" name="Content Placeholder 4">
            <a:extLst>
              <a:ext uri="{FF2B5EF4-FFF2-40B4-BE49-F238E27FC236}">
                <a16:creationId xmlns:a16="http://schemas.microsoft.com/office/drawing/2014/main" id="{C518BD87-4055-3711-E6F6-9F1E45DF77FC}"/>
              </a:ext>
            </a:extLst>
          </p:cNvPr>
          <p:cNvSpPr>
            <a:spLocks noGrp="1"/>
          </p:cNvSpPr>
          <p:nvPr>
            <p:ph idx="1"/>
          </p:nvPr>
        </p:nvSpPr>
        <p:spPr>
          <a:xfrm>
            <a:off x="1447073" y="5255468"/>
            <a:ext cx="9505179" cy="939848"/>
          </a:xfrm>
        </p:spPr>
        <p:txBody>
          <a:bodyPr>
            <a:noAutofit/>
          </a:bodyPr>
          <a:lstStyle/>
          <a:p>
            <a:pPr>
              <a:buFont typeface="Arial" panose="020B0604020202020204" pitchFamily="34" charset="0"/>
              <a:buChar char="•"/>
            </a:pPr>
            <a:r>
              <a:rPr lang="en-US" sz="1400" dirty="0"/>
              <a:t>After grouping ethnicity, too many ‘OTHER/UNKNOWN’ in the dataset, therefore this feature won’t be used in the analysis</a:t>
            </a:r>
          </a:p>
          <a:p>
            <a:pPr>
              <a:buFont typeface="Arial" panose="020B0604020202020204" pitchFamily="34" charset="0"/>
              <a:buChar char="•"/>
            </a:pPr>
            <a:r>
              <a:rPr lang="en-US" sz="1400" dirty="0"/>
              <a:t>There are too many ‘NOT SPECIFIED’ in Religion values, therefore this feature won’t be used in the analysis either</a:t>
            </a:r>
          </a:p>
        </p:txBody>
      </p:sp>
      <p:pic>
        <p:nvPicPr>
          <p:cNvPr id="4" name="Picture 3" descr="A computer code with text&#10;&#10;AI-generated content may be incorrect.">
            <a:extLst>
              <a:ext uri="{FF2B5EF4-FFF2-40B4-BE49-F238E27FC236}">
                <a16:creationId xmlns:a16="http://schemas.microsoft.com/office/drawing/2014/main" id="{6B19A4B7-A8CE-DAD6-59DF-30845B88E9BA}"/>
              </a:ext>
            </a:extLst>
          </p:cNvPr>
          <p:cNvPicPr>
            <a:picLocks noChangeAspect="1"/>
          </p:cNvPicPr>
          <p:nvPr/>
        </p:nvPicPr>
        <p:blipFill>
          <a:blip r:embed="rId2"/>
          <a:stretch>
            <a:fillRect/>
          </a:stretch>
        </p:blipFill>
        <p:spPr>
          <a:xfrm>
            <a:off x="1447074" y="2027743"/>
            <a:ext cx="5543835" cy="1047804"/>
          </a:xfrm>
          <a:prstGeom prst="rect">
            <a:avLst/>
          </a:prstGeom>
        </p:spPr>
      </p:pic>
      <p:pic>
        <p:nvPicPr>
          <p:cNvPr id="8" name="Picture 7" descr="A computer screen shot of a white background&#10;&#10;AI-generated content may be incorrect.">
            <a:extLst>
              <a:ext uri="{FF2B5EF4-FFF2-40B4-BE49-F238E27FC236}">
                <a16:creationId xmlns:a16="http://schemas.microsoft.com/office/drawing/2014/main" id="{4E68FA26-45A1-83B4-63F6-A45786B4716F}"/>
              </a:ext>
            </a:extLst>
          </p:cNvPr>
          <p:cNvPicPr>
            <a:picLocks noChangeAspect="1"/>
          </p:cNvPicPr>
          <p:nvPr/>
        </p:nvPicPr>
        <p:blipFill>
          <a:blip r:embed="rId3"/>
          <a:stretch>
            <a:fillRect/>
          </a:stretch>
        </p:blipFill>
        <p:spPr>
          <a:xfrm>
            <a:off x="1447074" y="3203886"/>
            <a:ext cx="1473276" cy="749339"/>
          </a:xfrm>
          <a:prstGeom prst="rect">
            <a:avLst/>
          </a:prstGeom>
        </p:spPr>
      </p:pic>
      <p:pic>
        <p:nvPicPr>
          <p:cNvPr id="11" name="Picture 10" descr="A white text with black text&#10;&#10;AI-generated content may be incorrect.">
            <a:extLst>
              <a:ext uri="{FF2B5EF4-FFF2-40B4-BE49-F238E27FC236}">
                <a16:creationId xmlns:a16="http://schemas.microsoft.com/office/drawing/2014/main" id="{E185930E-7CD3-0142-B942-C1A3F0F87179}"/>
              </a:ext>
            </a:extLst>
          </p:cNvPr>
          <p:cNvPicPr>
            <a:picLocks noChangeAspect="1"/>
          </p:cNvPicPr>
          <p:nvPr/>
        </p:nvPicPr>
        <p:blipFill>
          <a:blip r:embed="rId4"/>
          <a:stretch>
            <a:fillRect/>
          </a:stretch>
        </p:blipFill>
        <p:spPr>
          <a:xfrm>
            <a:off x="7416439" y="2027743"/>
            <a:ext cx="1754743" cy="2999808"/>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13B1E37D-5BD7-7EBE-C733-14A07149490C}"/>
              </a:ext>
            </a:extLst>
          </p:cNvPr>
          <p:cNvPicPr>
            <a:picLocks noChangeAspect="1"/>
          </p:cNvPicPr>
          <p:nvPr/>
        </p:nvPicPr>
        <p:blipFill>
          <a:blip r:embed="rId5"/>
          <a:stretch>
            <a:fillRect/>
          </a:stretch>
        </p:blipFill>
        <p:spPr>
          <a:xfrm>
            <a:off x="1448577" y="4064192"/>
            <a:ext cx="4959605" cy="939848"/>
          </a:xfrm>
          <a:prstGeom prst="rect">
            <a:avLst/>
          </a:prstGeom>
        </p:spPr>
      </p:pic>
    </p:spTree>
    <p:extLst>
      <p:ext uri="{BB962C8B-B14F-4D97-AF65-F5344CB8AC3E}">
        <p14:creationId xmlns:p14="http://schemas.microsoft.com/office/powerpoint/2010/main" val="503934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BCC7-5EC0-2CC5-FB0C-90904FB48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31C76-FF9C-0787-FECC-98132AD69BA3}"/>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DIAGNOSES_ICD Feature Engineering</a:t>
            </a:r>
          </a:p>
        </p:txBody>
      </p:sp>
      <p:sp>
        <p:nvSpPr>
          <p:cNvPr id="5" name="Content Placeholder 4">
            <a:extLst>
              <a:ext uri="{FF2B5EF4-FFF2-40B4-BE49-F238E27FC236}">
                <a16:creationId xmlns:a16="http://schemas.microsoft.com/office/drawing/2014/main" id="{9C19EA85-F638-A260-9130-E1533B6F7BEC}"/>
              </a:ext>
            </a:extLst>
          </p:cNvPr>
          <p:cNvSpPr>
            <a:spLocks noGrp="1"/>
          </p:cNvSpPr>
          <p:nvPr>
            <p:ph idx="1"/>
          </p:nvPr>
        </p:nvSpPr>
        <p:spPr>
          <a:xfrm>
            <a:off x="609600" y="5207743"/>
            <a:ext cx="10868025" cy="1151959"/>
          </a:xfrm>
        </p:spPr>
        <p:txBody>
          <a:bodyPr>
            <a:noAutofit/>
          </a:bodyPr>
          <a:lstStyle/>
          <a:p>
            <a:pPr>
              <a:buFont typeface="Arial" panose="020B0604020202020204" pitchFamily="34" charset="0"/>
              <a:buChar char="•"/>
            </a:pPr>
            <a:r>
              <a:rPr lang="en-US" sz="1400" dirty="0"/>
              <a:t>Too many unique values for ICD code, therefore grouped it to its generalized categories as a feature, utilizing method from the course material</a:t>
            </a:r>
          </a:p>
          <a:p>
            <a:pPr>
              <a:buFont typeface="Arial" panose="020B0604020202020204" pitchFamily="34" charset="0"/>
              <a:buChar char="•"/>
            </a:pPr>
            <a:r>
              <a:rPr lang="en-US" sz="1400" dirty="0"/>
              <a:t>E and V codes and missing data is set to 999 as injury category</a:t>
            </a:r>
          </a:p>
          <a:p>
            <a:pPr>
              <a:buFont typeface="Arial" panose="020B0604020202020204" pitchFamily="34" charset="0"/>
              <a:buChar char="•"/>
            </a:pPr>
            <a:r>
              <a:rPr lang="en-US" sz="1400" dirty="0"/>
              <a:t>All diagnoses is then grouped by its admission ID</a:t>
            </a:r>
          </a:p>
        </p:txBody>
      </p:sp>
      <p:pic>
        <p:nvPicPr>
          <p:cNvPr id="6" name="Picture 5" descr="A screenshot of a computer code&#10;&#10;AI-generated content may be incorrect.">
            <a:extLst>
              <a:ext uri="{FF2B5EF4-FFF2-40B4-BE49-F238E27FC236}">
                <a16:creationId xmlns:a16="http://schemas.microsoft.com/office/drawing/2014/main" id="{63509F6E-0017-FAD8-0ED9-E62EB5A73A4A}"/>
              </a:ext>
            </a:extLst>
          </p:cNvPr>
          <p:cNvPicPr>
            <a:picLocks noChangeAspect="1"/>
          </p:cNvPicPr>
          <p:nvPr/>
        </p:nvPicPr>
        <p:blipFill>
          <a:blip r:embed="rId2"/>
          <a:stretch>
            <a:fillRect/>
          </a:stretch>
        </p:blipFill>
        <p:spPr>
          <a:xfrm>
            <a:off x="1539542" y="1968765"/>
            <a:ext cx="4826442" cy="176522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85F06AE-F2F3-D0A8-2BF5-23D5A9E080F4}"/>
              </a:ext>
            </a:extLst>
          </p:cNvPr>
          <p:cNvPicPr>
            <a:picLocks noChangeAspect="1"/>
          </p:cNvPicPr>
          <p:nvPr/>
        </p:nvPicPr>
        <p:blipFill>
          <a:blip r:embed="rId3"/>
          <a:stretch>
            <a:fillRect/>
          </a:stretch>
        </p:blipFill>
        <p:spPr>
          <a:xfrm>
            <a:off x="6928941" y="2027743"/>
            <a:ext cx="3863539" cy="2996319"/>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193931FA-4A96-FA6C-7791-BE20A46C03E1}"/>
              </a:ext>
            </a:extLst>
          </p:cNvPr>
          <p:cNvPicPr>
            <a:picLocks noChangeAspect="1"/>
          </p:cNvPicPr>
          <p:nvPr/>
        </p:nvPicPr>
        <p:blipFill>
          <a:blip r:embed="rId4"/>
          <a:stretch>
            <a:fillRect/>
          </a:stretch>
        </p:blipFill>
        <p:spPr>
          <a:xfrm>
            <a:off x="2754470" y="3781714"/>
            <a:ext cx="3611514" cy="1426029"/>
          </a:xfrm>
          <a:prstGeom prst="rect">
            <a:avLst/>
          </a:prstGeom>
        </p:spPr>
      </p:pic>
    </p:spTree>
    <p:extLst>
      <p:ext uri="{BB962C8B-B14F-4D97-AF65-F5344CB8AC3E}">
        <p14:creationId xmlns:p14="http://schemas.microsoft.com/office/powerpoint/2010/main" val="1226959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BC5BD-BD03-7C57-6827-FED48AE6A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C26E5-5D39-7502-1D92-694970CE31FE}"/>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DIAGNOSES_ICD Feature Engineering</a:t>
            </a:r>
          </a:p>
        </p:txBody>
      </p:sp>
      <p:pic>
        <p:nvPicPr>
          <p:cNvPr id="11" name="Picture 10" descr="A screenshot of a computer&#10;&#10;AI-generated content may be incorrect.">
            <a:extLst>
              <a:ext uri="{FF2B5EF4-FFF2-40B4-BE49-F238E27FC236}">
                <a16:creationId xmlns:a16="http://schemas.microsoft.com/office/drawing/2014/main" id="{8FFF34BA-B494-87B5-3B25-A814856F2413}"/>
              </a:ext>
            </a:extLst>
          </p:cNvPr>
          <p:cNvPicPr>
            <a:picLocks noChangeAspect="1"/>
          </p:cNvPicPr>
          <p:nvPr/>
        </p:nvPicPr>
        <p:blipFill>
          <a:blip r:embed="rId2"/>
          <a:stretch>
            <a:fillRect/>
          </a:stretch>
        </p:blipFill>
        <p:spPr>
          <a:xfrm>
            <a:off x="914581" y="2465159"/>
            <a:ext cx="4848337" cy="2533562"/>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952E3686-F176-27D9-40D5-C05A5FC398F4}"/>
              </a:ext>
            </a:extLst>
          </p:cNvPr>
          <p:cNvPicPr>
            <a:picLocks noChangeAspect="1"/>
          </p:cNvPicPr>
          <p:nvPr/>
        </p:nvPicPr>
        <p:blipFill>
          <a:blip r:embed="rId3"/>
          <a:stretch>
            <a:fillRect/>
          </a:stretch>
        </p:blipFill>
        <p:spPr>
          <a:xfrm>
            <a:off x="5834310" y="2465159"/>
            <a:ext cx="5557335" cy="2533562"/>
          </a:xfrm>
          <a:prstGeom prst="rect">
            <a:avLst/>
          </a:prstGeom>
        </p:spPr>
      </p:pic>
    </p:spTree>
    <p:extLst>
      <p:ext uri="{BB962C8B-B14F-4D97-AF65-F5344CB8AC3E}">
        <p14:creationId xmlns:p14="http://schemas.microsoft.com/office/powerpoint/2010/main" val="3940948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7BADB-F6ED-1CE3-57AF-5E64A0F80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BE7EE-CB98-A2B2-5451-10E53CCEC6A9}"/>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PATIENTS Data Exploration</a:t>
            </a:r>
          </a:p>
        </p:txBody>
      </p:sp>
      <p:pic>
        <p:nvPicPr>
          <p:cNvPr id="4" name="Picture 3" descr="A screenshot of a computer&#10;&#10;AI-generated content may be incorrect.">
            <a:extLst>
              <a:ext uri="{FF2B5EF4-FFF2-40B4-BE49-F238E27FC236}">
                <a16:creationId xmlns:a16="http://schemas.microsoft.com/office/drawing/2014/main" id="{A5AFB9CD-2235-913B-C8AB-D5C314F872B0}"/>
              </a:ext>
            </a:extLst>
          </p:cNvPr>
          <p:cNvPicPr>
            <a:picLocks noChangeAspect="1"/>
          </p:cNvPicPr>
          <p:nvPr/>
        </p:nvPicPr>
        <p:blipFill>
          <a:blip r:embed="rId2"/>
          <a:stretch>
            <a:fillRect/>
          </a:stretch>
        </p:blipFill>
        <p:spPr>
          <a:xfrm>
            <a:off x="1936536" y="2007899"/>
            <a:ext cx="3511482" cy="194433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FEBBA67B-E101-433C-E84E-F2277278C015}"/>
              </a:ext>
            </a:extLst>
          </p:cNvPr>
          <p:cNvPicPr>
            <a:picLocks noChangeAspect="1"/>
          </p:cNvPicPr>
          <p:nvPr/>
        </p:nvPicPr>
        <p:blipFill>
          <a:blip r:embed="rId3"/>
          <a:stretch>
            <a:fillRect/>
          </a:stretch>
        </p:blipFill>
        <p:spPr>
          <a:xfrm>
            <a:off x="5976149" y="2007899"/>
            <a:ext cx="4150157" cy="4326226"/>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6367F00D-E427-4F50-30E4-3E7D85F58D2B}"/>
              </a:ext>
            </a:extLst>
          </p:cNvPr>
          <p:cNvPicPr>
            <a:picLocks noChangeAspect="1"/>
          </p:cNvPicPr>
          <p:nvPr/>
        </p:nvPicPr>
        <p:blipFill>
          <a:blip r:embed="rId4"/>
          <a:stretch>
            <a:fillRect/>
          </a:stretch>
        </p:blipFill>
        <p:spPr>
          <a:xfrm>
            <a:off x="1936536" y="4062790"/>
            <a:ext cx="3578439" cy="2192538"/>
          </a:xfrm>
          <a:prstGeom prst="rect">
            <a:avLst/>
          </a:prstGeom>
        </p:spPr>
      </p:pic>
    </p:spTree>
    <p:extLst>
      <p:ext uri="{BB962C8B-B14F-4D97-AF65-F5344CB8AC3E}">
        <p14:creationId xmlns:p14="http://schemas.microsoft.com/office/powerpoint/2010/main" val="2269574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04866-3B65-3F36-C443-DD018391F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9C810-2526-4660-6D1B-083E3458989B}"/>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PATIENTS Feature Engineering</a:t>
            </a:r>
          </a:p>
        </p:txBody>
      </p:sp>
      <p:sp>
        <p:nvSpPr>
          <p:cNvPr id="5" name="Content Placeholder 4">
            <a:extLst>
              <a:ext uri="{FF2B5EF4-FFF2-40B4-BE49-F238E27FC236}">
                <a16:creationId xmlns:a16="http://schemas.microsoft.com/office/drawing/2014/main" id="{241CFE86-74B3-D745-F71A-2C75D1484A62}"/>
              </a:ext>
            </a:extLst>
          </p:cNvPr>
          <p:cNvSpPr>
            <a:spLocks noGrp="1"/>
          </p:cNvSpPr>
          <p:nvPr>
            <p:ph idx="1"/>
          </p:nvPr>
        </p:nvSpPr>
        <p:spPr>
          <a:xfrm>
            <a:off x="1418498" y="5769818"/>
            <a:ext cx="9505179" cy="450008"/>
          </a:xfrm>
        </p:spPr>
        <p:txBody>
          <a:bodyPr>
            <a:noAutofit/>
          </a:bodyPr>
          <a:lstStyle/>
          <a:p>
            <a:pPr>
              <a:buFont typeface="Arial" panose="020B0604020202020204" pitchFamily="34" charset="0"/>
              <a:buChar char="•"/>
            </a:pPr>
            <a:r>
              <a:rPr lang="en-US" sz="1400" dirty="0"/>
              <a:t>Data shows that the majority of in-hospital deaths have older age with no significant difference by gender</a:t>
            </a:r>
          </a:p>
        </p:txBody>
      </p:sp>
      <p:pic>
        <p:nvPicPr>
          <p:cNvPr id="4" name="Picture 3" descr="A screenshot of a computer&#10;&#10;AI-generated content may be incorrect.">
            <a:extLst>
              <a:ext uri="{FF2B5EF4-FFF2-40B4-BE49-F238E27FC236}">
                <a16:creationId xmlns:a16="http://schemas.microsoft.com/office/drawing/2014/main" id="{C5E60A3F-FA40-56BF-A716-9A8A37DBB5AF}"/>
              </a:ext>
            </a:extLst>
          </p:cNvPr>
          <p:cNvPicPr>
            <a:picLocks noChangeAspect="1"/>
          </p:cNvPicPr>
          <p:nvPr/>
        </p:nvPicPr>
        <p:blipFill>
          <a:blip r:embed="rId2"/>
          <a:stretch>
            <a:fillRect/>
          </a:stretch>
        </p:blipFill>
        <p:spPr>
          <a:xfrm>
            <a:off x="3178025" y="2038256"/>
            <a:ext cx="5835950" cy="3638737"/>
          </a:xfrm>
          <a:prstGeom prst="rect">
            <a:avLst/>
          </a:prstGeom>
        </p:spPr>
      </p:pic>
    </p:spTree>
    <p:extLst>
      <p:ext uri="{BB962C8B-B14F-4D97-AF65-F5344CB8AC3E}">
        <p14:creationId xmlns:p14="http://schemas.microsoft.com/office/powerpoint/2010/main" val="2651064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88B3E-A031-9D30-F5B4-05D1E5CD0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2BA2A-691F-6EA6-DA3F-3733F610F06D}"/>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Data Preprocessing</a:t>
            </a:r>
          </a:p>
        </p:txBody>
      </p:sp>
      <p:pic>
        <p:nvPicPr>
          <p:cNvPr id="5" name="Picture 4" descr="A screenshot of a computer&#10;&#10;AI-generated content may be incorrect.">
            <a:extLst>
              <a:ext uri="{FF2B5EF4-FFF2-40B4-BE49-F238E27FC236}">
                <a16:creationId xmlns:a16="http://schemas.microsoft.com/office/drawing/2014/main" id="{50A61556-8E73-575F-BEFA-E069F4FFEDFD}"/>
              </a:ext>
            </a:extLst>
          </p:cNvPr>
          <p:cNvPicPr>
            <a:picLocks noChangeAspect="1"/>
          </p:cNvPicPr>
          <p:nvPr/>
        </p:nvPicPr>
        <p:blipFill>
          <a:blip r:embed="rId2"/>
          <a:stretch>
            <a:fillRect/>
          </a:stretch>
        </p:blipFill>
        <p:spPr>
          <a:xfrm>
            <a:off x="1625492" y="1930264"/>
            <a:ext cx="3397480" cy="4260986"/>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35E99347-99EC-AAB9-BF99-64F90EE34282}"/>
              </a:ext>
            </a:extLst>
          </p:cNvPr>
          <p:cNvPicPr>
            <a:picLocks noChangeAspect="1"/>
          </p:cNvPicPr>
          <p:nvPr/>
        </p:nvPicPr>
        <p:blipFill>
          <a:blip r:embed="rId3"/>
          <a:stretch>
            <a:fillRect/>
          </a:stretch>
        </p:blipFill>
        <p:spPr>
          <a:xfrm>
            <a:off x="5464039" y="2228688"/>
            <a:ext cx="5283472" cy="3664138"/>
          </a:xfrm>
          <a:prstGeom prst="rect">
            <a:avLst/>
          </a:prstGeom>
        </p:spPr>
      </p:pic>
    </p:spTree>
    <p:extLst>
      <p:ext uri="{BB962C8B-B14F-4D97-AF65-F5344CB8AC3E}">
        <p14:creationId xmlns:p14="http://schemas.microsoft.com/office/powerpoint/2010/main" val="1516814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EE6BC-87D0-059B-2D97-4925F523C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BCCCE-102D-0A32-F913-F463EF61CCA6}"/>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Machine Learning Algorithm (Classifiers)</a:t>
            </a:r>
          </a:p>
        </p:txBody>
      </p:sp>
      <p:pic>
        <p:nvPicPr>
          <p:cNvPr id="4" name="Picture 3" descr="A screenshot of a computer program&#10;&#10;AI-generated content may be incorrect.">
            <a:extLst>
              <a:ext uri="{FF2B5EF4-FFF2-40B4-BE49-F238E27FC236}">
                <a16:creationId xmlns:a16="http://schemas.microsoft.com/office/drawing/2014/main" id="{F6DB2641-B814-ACAB-809B-D25542EDA9B0}"/>
              </a:ext>
            </a:extLst>
          </p:cNvPr>
          <p:cNvPicPr>
            <a:picLocks noChangeAspect="1"/>
          </p:cNvPicPr>
          <p:nvPr/>
        </p:nvPicPr>
        <p:blipFill>
          <a:blip r:embed="rId2"/>
          <a:stretch>
            <a:fillRect/>
          </a:stretch>
        </p:blipFill>
        <p:spPr>
          <a:xfrm>
            <a:off x="1155768" y="2092959"/>
            <a:ext cx="4934204" cy="276239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F488011E-46F8-D574-32F3-D9C5685F6B22}"/>
              </a:ext>
            </a:extLst>
          </p:cNvPr>
          <p:cNvPicPr>
            <a:picLocks noChangeAspect="1"/>
          </p:cNvPicPr>
          <p:nvPr/>
        </p:nvPicPr>
        <p:blipFill>
          <a:blip r:embed="rId3"/>
          <a:stretch>
            <a:fillRect/>
          </a:stretch>
        </p:blipFill>
        <p:spPr>
          <a:xfrm>
            <a:off x="6221475" y="2028715"/>
            <a:ext cx="4934204" cy="4286470"/>
          </a:xfrm>
          <a:prstGeom prst="rect">
            <a:avLst/>
          </a:prstGeom>
        </p:spPr>
      </p:pic>
      <p:sp>
        <p:nvSpPr>
          <p:cNvPr id="8" name="Content Placeholder 4">
            <a:extLst>
              <a:ext uri="{FF2B5EF4-FFF2-40B4-BE49-F238E27FC236}">
                <a16:creationId xmlns:a16="http://schemas.microsoft.com/office/drawing/2014/main" id="{74BD9A5B-0ACD-E1B3-7551-0325DB029106}"/>
              </a:ext>
            </a:extLst>
          </p:cNvPr>
          <p:cNvSpPr>
            <a:spLocks noGrp="1"/>
          </p:cNvSpPr>
          <p:nvPr>
            <p:ph idx="1"/>
          </p:nvPr>
        </p:nvSpPr>
        <p:spPr>
          <a:xfrm>
            <a:off x="1221520" y="5120641"/>
            <a:ext cx="4934204" cy="1104235"/>
          </a:xfrm>
        </p:spPr>
        <p:txBody>
          <a:bodyPr>
            <a:noAutofit/>
          </a:bodyPr>
          <a:lstStyle/>
          <a:p>
            <a:pPr>
              <a:buFont typeface="Arial" panose="020B0604020202020204" pitchFamily="34" charset="0"/>
              <a:buChar char="•"/>
            </a:pPr>
            <a:r>
              <a:rPr lang="en-US" sz="1400" dirty="0"/>
              <a:t>Error rate is a simple calculation of the mean value of wrong prediction on test dataset</a:t>
            </a:r>
          </a:p>
          <a:p>
            <a:pPr>
              <a:buFont typeface="Arial" panose="020B0604020202020204" pitchFamily="34" charset="0"/>
              <a:buChar char="•"/>
            </a:pPr>
            <a:r>
              <a:rPr lang="en-US" sz="1400" dirty="0"/>
              <a:t>Random Forest Classifier has the lowest error rate</a:t>
            </a:r>
          </a:p>
        </p:txBody>
      </p:sp>
    </p:spTree>
    <p:extLst>
      <p:ext uri="{BB962C8B-B14F-4D97-AF65-F5344CB8AC3E}">
        <p14:creationId xmlns:p14="http://schemas.microsoft.com/office/powerpoint/2010/main" val="3831140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0046C-0048-2BF0-59AF-50C827B5C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44C92-8C2E-D02D-2A86-DDF5EEE254C2}"/>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Random Forest Classifier - Performance</a:t>
            </a:r>
          </a:p>
        </p:txBody>
      </p:sp>
      <p:pic>
        <p:nvPicPr>
          <p:cNvPr id="4" name="Picture 3" descr="A screen shot of a computer screen&#10;&#10;AI-generated content may be incorrect.">
            <a:extLst>
              <a:ext uri="{FF2B5EF4-FFF2-40B4-BE49-F238E27FC236}">
                <a16:creationId xmlns:a16="http://schemas.microsoft.com/office/drawing/2014/main" id="{9D19BEBA-D911-5FB0-8841-8CF33DB0C63A}"/>
              </a:ext>
            </a:extLst>
          </p:cNvPr>
          <p:cNvPicPr>
            <a:picLocks noChangeAspect="1"/>
          </p:cNvPicPr>
          <p:nvPr/>
        </p:nvPicPr>
        <p:blipFill>
          <a:blip r:embed="rId2"/>
          <a:stretch>
            <a:fillRect/>
          </a:stretch>
        </p:blipFill>
        <p:spPr>
          <a:xfrm>
            <a:off x="1320677" y="2028680"/>
            <a:ext cx="3764210" cy="4400695"/>
          </a:xfrm>
          <a:prstGeom prst="rect">
            <a:avLst/>
          </a:prstGeom>
        </p:spPr>
      </p:pic>
      <p:sp>
        <p:nvSpPr>
          <p:cNvPr id="6" name="Content Placeholder 4">
            <a:extLst>
              <a:ext uri="{FF2B5EF4-FFF2-40B4-BE49-F238E27FC236}">
                <a16:creationId xmlns:a16="http://schemas.microsoft.com/office/drawing/2014/main" id="{41E5D72C-8CE3-068E-7518-5912E732C086}"/>
              </a:ext>
            </a:extLst>
          </p:cNvPr>
          <p:cNvSpPr>
            <a:spLocks noGrp="1"/>
          </p:cNvSpPr>
          <p:nvPr>
            <p:ph idx="1"/>
          </p:nvPr>
        </p:nvSpPr>
        <p:spPr>
          <a:xfrm>
            <a:off x="5536345" y="2453641"/>
            <a:ext cx="4934204" cy="1104235"/>
          </a:xfrm>
        </p:spPr>
        <p:txBody>
          <a:bodyPr>
            <a:noAutofit/>
          </a:bodyPr>
          <a:lstStyle/>
          <a:p>
            <a:pPr>
              <a:buFont typeface="Arial" panose="020B0604020202020204" pitchFamily="34" charset="0"/>
              <a:buChar char="•"/>
            </a:pPr>
            <a:r>
              <a:rPr lang="en-US" sz="1400" dirty="0"/>
              <a:t>Perfect 1.0 AUC score for training data</a:t>
            </a:r>
          </a:p>
          <a:p>
            <a:pPr>
              <a:buFont typeface="Arial" panose="020B0604020202020204" pitchFamily="34" charset="0"/>
              <a:buChar char="•"/>
            </a:pPr>
            <a:r>
              <a:rPr lang="en-US" sz="1400" dirty="0"/>
              <a:t>Excellent 0.8 AUC score for test data</a:t>
            </a:r>
          </a:p>
        </p:txBody>
      </p:sp>
    </p:spTree>
    <p:extLst>
      <p:ext uri="{BB962C8B-B14F-4D97-AF65-F5344CB8AC3E}">
        <p14:creationId xmlns:p14="http://schemas.microsoft.com/office/powerpoint/2010/main" val="4085664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42E65-FE57-29F1-B37F-1830E66B2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360E0-B0F1-735C-9051-8B9FBC5A6239}"/>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Random Forest Classifier – Fine Tuning</a:t>
            </a:r>
          </a:p>
        </p:txBody>
      </p:sp>
      <p:sp>
        <p:nvSpPr>
          <p:cNvPr id="6" name="Content Placeholder 4">
            <a:extLst>
              <a:ext uri="{FF2B5EF4-FFF2-40B4-BE49-F238E27FC236}">
                <a16:creationId xmlns:a16="http://schemas.microsoft.com/office/drawing/2014/main" id="{927A534F-2A3D-CE6A-72CA-0B7B444029D5}"/>
              </a:ext>
            </a:extLst>
          </p:cNvPr>
          <p:cNvSpPr>
            <a:spLocks noGrp="1"/>
          </p:cNvSpPr>
          <p:nvPr>
            <p:ph idx="1"/>
          </p:nvPr>
        </p:nvSpPr>
        <p:spPr>
          <a:xfrm>
            <a:off x="1221518" y="4215766"/>
            <a:ext cx="5331681" cy="1642109"/>
          </a:xfrm>
        </p:spPr>
        <p:txBody>
          <a:bodyPr>
            <a:noAutofit/>
          </a:bodyPr>
          <a:lstStyle/>
          <a:p>
            <a:pPr>
              <a:buFont typeface="Arial" panose="020B0604020202020204" pitchFamily="34" charset="0"/>
              <a:buChar char="•"/>
            </a:pPr>
            <a:r>
              <a:rPr lang="en-US" sz="1400" dirty="0"/>
              <a:t>Use </a:t>
            </a:r>
            <a:r>
              <a:rPr lang="en-US" sz="1400" dirty="0" err="1"/>
              <a:t>GridSearchCV</a:t>
            </a:r>
            <a:r>
              <a:rPr lang="en-US" sz="1400" dirty="0"/>
              <a:t> to test permutation of parameters</a:t>
            </a:r>
          </a:p>
          <a:p>
            <a:pPr>
              <a:buFont typeface="Arial" panose="020B0604020202020204" pitchFamily="34" charset="0"/>
              <a:buChar char="•"/>
            </a:pPr>
            <a:r>
              <a:rPr lang="en-US" sz="1400" dirty="0"/>
              <a:t>The best estimator result: n_estimators=400 and criterion=‘entropy’</a:t>
            </a:r>
          </a:p>
          <a:p>
            <a:pPr>
              <a:buFont typeface="Arial" panose="020B0604020202020204" pitchFamily="34" charset="0"/>
              <a:buChar char="•"/>
            </a:pPr>
            <a:r>
              <a:rPr lang="en-US" sz="1400" dirty="0"/>
              <a:t>Still perfect 1.0 AUC score for training data and small improvement to 0.81 AUC score for test data</a:t>
            </a:r>
          </a:p>
        </p:txBody>
      </p:sp>
      <p:pic>
        <p:nvPicPr>
          <p:cNvPr id="5" name="Picture 4" descr="A screen shot of a computer code&#10;&#10;AI-generated content may be incorrect.">
            <a:extLst>
              <a:ext uri="{FF2B5EF4-FFF2-40B4-BE49-F238E27FC236}">
                <a16:creationId xmlns:a16="http://schemas.microsoft.com/office/drawing/2014/main" id="{D7E92C6D-B989-F7C7-207D-7A198FD1D1BA}"/>
              </a:ext>
            </a:extLst>
          </p:cNvPr>
          <p:cNvPicPr>
            <a:picLocks noChangeAspect="1"/>
          </p:cNvPicPr>
          <p:nvPr/>
        </p:nvPicPr>
        <p:blipFill>
          <a:blip r:embed="rId2"/>
          <a:stretch>
            <a:fillRect/>
          </a:stretch>
        </p:blipFill>
        <p:spPr>
          <a:xfrm>
            <a:off x="1155768" y="2000202"/>
            <a:ext cx="4819898" cy="1866996"/>
          </a:xfrm>
          <a:prstGeom prst="rect">
            <a:avLst/>
          </a:prstGeom>
        </p:spPr>
      </p:pic>
      <p:pic>
        <p:nvPicPr>
          <p:cNvPr id="8" name="Picture 7" descr="A screen shot of a computer screen&#10;&#10;AI-generated content may be incorrect.">
            <a:extLst>
              <a:ext uri="{FF2B5EF4-FFF2-40B4-BE49-F238E27FC236}">
                <a16:creationId xmlns:a16="http://schemas.microsoft.com/office/drawing/2014/main" id="{56F43570-5180-6370-846B-635267A49858}"/>
              </a:ext>
            </a:extLst>
          </p:cNvPr>
          <p:cNvPicPr>
            <a:picLocks noChangeAspect="1"/>
          </p:cNvPicPr>
          <p:nvPr/>
        </p:nvPicPr>
        <p:blipFill>
          <a:blip r:embed="rId3"/>
          <a:stretch>
            <a:fillRect/>
          </a:stretch>
        </p:blipFill>
        <p:spPr>
          <a:xfrm>
            <a:off x="6686549" y="2000202"/>
            <a:ext cx="4113115" cy="4286298"/>
          </a:xfrm>
          <a:prstGeom prst="rect">
            <a:avLst/>
          </a:prstGeom>
        </p:spPr>
      </p:pic>
    </p:spTree>
    <p:extLst>
      <p:ext uri="{BB962C8B-B14F-4D97-AF65-F5344CB8AC3E}">
        <p14:creationId xmlns:p14="http://schemas.microsoft.com/office/powerpoint/2010/main" val="3413741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9E6A3-3CB7-0795-D26C-2C3732EB9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9EE3C-A2E3-6C88-7DB1-A36B1AD4820D}"/>
              </a:ext>
            </a:extLst>
          </p:cNvPr>
          <p:cNvSpPr>
            <a:spLocks noGrp="1"/>
          </p:cNvSpPr>
          <p:nvPr>
            <p:ph type="title"/>
          </p:nvPr>
        </p:nvSpPr>
        <p:spPr>
          <a:xfrm>
            <a:off x="1155768" y="286603"/>
            <a:ext cx="9999911" cy="1450757"/>
          </a:xfrm>
        </p:spPr>
        <p:txBody>
          <a:bodyPr vert="horz" lIns="91440" tIns="45720" rIns="91440" bIns="45720" rtlCol="0">
            <a:normAutofit/>
          </a:bodyPr>
          <a:lstStyle/>
          <a:p>
            <a:r>
              <a:rPr lang="en-US" sz="3600" dirty="0"/>
              <a:t>Feature Importance and Summary</a:t>
            </a:r>
          </a:p>
        </p:txBody>
      </p:sp>
      <p:sp>
        <p:nvSpPr>
          <p:cNvPr id="6" name="Content Placeholder 4">
            <a:extLst>
              <a:ext uri="{FF2B5EF4-FFF2-40B4-BE49-F238E27FC236}">
                <a16:creationId xmlns:a16="http://schemas.microsoft.com/office/drawing/2014/main" id="{B8A780CF-1157-BA1F-69D7-808D5F0F292C}"/>
              </a:ext>
            </a:extLst>
          </p:cNvPr>
          <p:cNvSpPr>
            <a:spLocks noGrp="1"/>
          </p:cNvSpPr>
          <p:nvPr>
            <p:ph idx="1"/>
          </p:nvPr>
        </p:nvSpPr>
        <p:spPr>
          <a:xfrm>
            <a:off x="1221518" y="4056949"/>
            <a:ext cx="5331681" cy="2032163"/>
          </a:xfrm>
        </p:spPr>
        <p:txBody>
          <a:bodyPr>
            <a:noAutofit/>
          </a:bodyPr>
          <a:lstStyle/>
          <a:p>
            <a:pPr>
              <a:buFont typeface="Arial" panose="020B0604020202020204" pitchFamily="34" charset="0"/>
              <a:buChar char="•"/>
            </a:pPr>
            <a:r>
              <a:rPr lang="en-US" sz="1400" dirty="0"/>
              <a:t>Age is by far the best predictor of in-hospital death</a:t>
            </a:r>
          </a:p>
          <a:p>
            <a:pPr>
              <a:buFont typeface="Arial" panose="020B0604020202020204" pitchFamily="34" charset="0"/>
              <a:buChar char="•"/>
            </a:pPr>
            <a:r>
              <a:rPr lang="en-US" sz="1400" dirty="0"/>
              <a:t>Gender and insurance didn’t show much importance as predictor</a:t>
            </a:r>
          </a:p>
          <a:p>
            <a:pPr>
              <a:buFont typeface="Arial" panose="020B0604020202020204" pitchFamily="34" charset="0"/>
              <a:buChar char="•"/>
            </a:pPr>
            <a:r>
              <a:rPr lang="en-US" sz="1400" dirty="0"/>
              <a:t>From the diagnoses group: injury, circulatory, respiratory and endocrine made the Top 5 predictors</a:t>
            </a:r>
          </a:p>
          <a:p>
            <a:pPr>
              <a:buFont typeface="Arial" panose="020B0604020202020204" pitchFamily="34" charset="0"/>
              <a:buChar char="•"/>
            </a:pPr>
            <a:r>
              <a:rPr lang="en-US" sz="1400" dirty="0"/>
              <a:t>Random Forest Classifier is the best algorithm and has an excellent 0.81 AUC score for test data</a:t>
            </a:r>
          </a:p>
        </p:txBody>
      </p:sp>
      <p:pic>
        <p:nvPicPr>
          <p:cNvPr id="4" name="Picture 3" descr="A screenshot of a computer code&#10;&#10;AI-generated content may be incorrect.">
            <a:extLst>
              <a:ext uri="{FF2B5EF4-FFF2-40B4-BE49-F238E27FC236}">
                <a16:creationId xmlns:a16="http://schemas.microsoft.com/office/drawing/2014/main" id="{FE0AAEE7-E28C-0EB4-CFB1-954B727D7320}"/>
              </a:ext>
            </a:extLst>
          </p:cNvPr>
          <p:cNvPicPr>
            <a:picLocks noChangeAspect="1"/>
          </p:cNvPicPr>
          <p:nvPr/>
        </p:nvPicPr>
        <p:blipFill>
          <a:blip r:embed="rId2"/>
          <a:stretch>
            <a:fillRect/>
          </a:stretch>
        </p:blipFill>
        <p:spPr>
          <a:xfrm>
            <a:off x="1221518" y="2000202"/>
            <a:ext cx="5219968" cy="1873346"/>
          </a:xfrm>
          <a:prstGeom prst="rect">
            <a:avLst/>
          </a:prstGeom>
        </p:spPr>
      </p:pic>
      <p:pic>
        <p:nvPicPr>
          <p:cNvPr id="9" name="Picture 8" descr="A graph with a bar graph&#10;&#10;AI-generated content may be incorrect.">
            <a:extLst>
              <a:ext uri="{FF2B5EF4-FFF2-40B4-BE49-F238E27FC236}">
                <a16:creationId xmlns:a16="http://schemas.microsoft.com/office/drawing/2014/main" id="{319CCD4A-A243-8D61-2A3D-21AAAF8596F3}"/>
              </a:ext>
            </a:extLst>
          </p:cNvPr>
          <p:cNvPicPr>
            <a:picLocks noChangeAspect="1"/>
          </p:cNvPicPr>
          <p:nvPr/>
        </p:nvPicPr>
        <p:blipFill>
          <a:blip r:embed="rId3"/>
          <a:stretch>
            <a:fillRect/>
          </a:stretch>
        </p:blipFill>
        <p:spPr>
          <a:xfrm>
            <a:off x="6553199" y="1920761"/>
            <a:ext cx="5112013" cy="4426177"/>
          </a:xfrm>
          <a:prstGeom prst="rect">
            <a:avLst/>
          </a:prstGeom>
        </p:spPr>
      </p:pic>
    </p:spTree>
    <p:extLst>
      <p:ext uri="{BB962C8B-B14F-4D97-AF65-F5344CB8AC3E}">
        <p14:creationId xmlns:p14="http://schemas.microsoft.com/office/powerpoint/2010/main" val="2493354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6DD55-CA8F-8AB6-F7C8-B3F141B03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9E16E-AA79-48E9-300F-32A6325DA90A}"/>
              </a:ext>
            </a:extLst>
          </p:cNvPr>
          <p:cNvSpPr>
            <a:spLocks noGrp="1"/>
          </p:cNvSpPr>
          <p:nvPr>
            <p:ph type="title"/>
          </p:nvPr>
        </p:nvSpPr>
        <p:spPr>
          <a:xfrm>
            <a:off x="1160585" y="286603"/>
            <a:ext cx="9995094" cy="1450757"/>
          </a:xfrm>
        </p:spPr>
        <p:txBody>
          <a:bodyPr vert="horz" lIns="91440" tIns="45720" rIns="91440" bIns="45720" rtlCol="0">
            <a:normAutofit/>
          </a:bodyPr>
          <a:lstStyle/>
          <a:p>
            <a:r>
              <a:rPr lang="en-US" sz="3600" dirty="0"/>
              <a:t>Source code</a:t>
            </a:r>
          </a:p>
        </p:txBody>
      </p:sp>
      <p:sp>
        <p:nvSpPr>
          <p:cNvPr id="13" name="Content Placeholder 4">
            <a:extLst>
              <a:ext uri="{FF2B5EF4-FFF2-40B4-BE49-F238E27FC236}">
                <a16:creationId xmlns:a16="http://schemas.microsoft.com/office/drawing/2014/main" id="{40D427E0-088F-1B72-3CC4-18E3E02570AB}"/>
              </a:ext>
            </a:extLst>
          </p:cNvPr>
          <p:cNvSpPr txBox="1">
            <a:spLocks/>
          </p:cNvSpPr>
          <p:nvPr/>
        </p:nvSpPr>
        <p:spPr>
          <a:xfrm>
            <a:off x="1303994" y="2243210"/>
            <a:ext cx="9481237" cy="1450756"/>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1400" dirty="0"/>
              <a:t>Python code: https://github.com/yherwono/ai_healthcare/blob/main/MIMIC-Hospital-Death.ipynb</a:t>
            </a:r>
          </a:p>
          <a:p>
            <a:pPr>
              <a:buFont typeface="Arial" panose="020B0604020202020204" pitchFamily="34" charset="0"/>
              <a:buChar char="•"/>
            </a:pPr>
            <a:r>
              <a:rPr lang="en-US" sz="1400" dirty="0"/>
              <a:t>MIMIC III dataset: https://physionet.org/content/mimiciii/1.4/</a:t>
            </a:r>
          </a:p>
        </p:txBody>
      </p:sp>
    </p:spTree>
    <p:extLst>
      <p:ext uri="{BB962C8B-B14F-4D97-AF65-F5344CB8AC3E}">
        <p14:creationId xmlns:p14="http://schemas.microsoft.com/office/powerpoint/2010/main" val="3092777533"/>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{526F24D3-8A88-49D6-91C8-AD9A96BF6532}tf22712842_win32</Template>
  <TotalTime>5937</TotalTime>
  <Words>1136</Words>
  <Application>Microsoft Office PowerPoint</Application>
  <PresentationFormat>Widescreen</PresentationFormat>
  <Paragraphs>86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Bookman Old Style</vt:lpstr>
      <vt:lpstr>Calibri</vt:lpstr>
      <vt:lpstr>Franklin Gothic Book</vt:lpstr>
      <vt:lpstr>Custom</vt:lpstr>
      <vt:lpstr>LLM Tutorial</vt:lpstr>
      <vt:lpstr>Stroke Patients - Background</vt:lpstr>
      <vt:lpstr>Stroke Patients – Zero-shot prompting</vt:lpstr>
      <vt:lpstr>Stroke Patients – One-shot prompting</vt:lpstr>
      <vt:lpstr>Stroke Patients – Tree of thoughts</vt:lpstr>
      <vt:lpstr>Pneumonia and Cardiac Arrest– Tree of thoughts</vt:lpstr>
      <vt:lpstr>Parkinson’s Disease Dataset</vt:lpstr>
      <vt:lpstr>Zero-shot ChatGPT Parkinson's disease prediction</vt:lpstr>
      <vt:lpstr>Import libraries and data load</vt:lpstr>
      <vt:lpstr>Admission Data Exploration</vt:lpstr>
      <vt:lpstr>Admission Feature Engineering:  Ethnicity and Religion</vt:lpstr>
      <vt:lpstr>DIAGNOSES_ICD Feature Engineering</vt:lpstr>
      <vt:lpstr>DIAGNOSES_ICD Feature Engineering</vt:lpstr>
      <vt:lpstr>PATIENTS Data Exploration</vt:lpstr>
      <vt:lpstr>PATIENTS Feature Engineering</vt:lpstr>
      <vt:lpstr>Data Preprocessing</vt:lpstr>
      <vt:lpstr>Machine Learning Algorithm (Classifiers)</vt:lpstr>
      <vt:lpstr>Random Forest Classifier - Performance</vt:lpstr>
      <vt:lpstr>Random Forest Classifier – Fine Tuning</vt:lpstr>
      <vt:lpstr>Feature Importance and Summary</vt:lpstr>
      <vt:lpstr>Source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Yudha Herwono</dc:creator>
  <cp:lastModifiedBy>Yudha Herwono</cp:lastModifiedBy>
  <cp:revision>40</cp:revision>
  <dcterms:created xsi:type="dcterms:W3CDTF">2025-02-01T20:17:38Z</dcterms:created>
  <dcterms:modified xsi:type="dcterms:W3CDTF">2025-04-13T01:24:40Z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